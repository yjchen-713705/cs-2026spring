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331" r:id="rId3"/>
    <p:sldId id="330" r:id="rId5"/>
    <p:sldId id="311" r:id="rId6"/>
    <p:sldId id="329" r:id="rId7"/>
    <p:sldId id="315" r:id="rId8"/>
    <p:sldId id="316" r:id="rId9"/>
    <p:sldId id="317" r:id="rId10"/>
    <p:sldId id="314" r:id="rId11"/>
    <p:sldId id="260" r:id="rId12"/>
    <p:sldId id="261" r:id="rId13"/>
    <p:sldId id="332" r:id="rId14"/>
    <p:sldId id="262" r:id="rId15"/>
    <p:sldId id="266" r:id="rId16"/>
    <p:sldId id="267" r:id="rId17"/>
    <p:sldId id="318" r:id="rId18"/>
    <p:sldId id="319" r:id="rId19"/>
    <p:sldId id="320" r:id="rId20"/>
    <p:sldId id="321" r:id="rId21"/>
    <p:sldId id="326" r:id="rId22"/>
    <p:sldId id="322" r:id="rId23"/>
    <p:sldId id="324" r:id="rId24"/>
    <p:sldId id="323" r:id="rId25"/>
    <p:sldId id="325" r:id="rId26"/>
    <p:sldId id="269" r:id="rId27"/>
    <p:sldId id="271" r:id="rId28"/>
    <p:sldId id="27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  <a:srgbClr val="F2F2F2"/>
    <a:srgbClr val="C0C0C0"/>
    <a:srgbClr val="FFFF99"/>
    <a:srgbClr val="FF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3" autoAdjust="0"/>
    <p:restoredTop sz="92136" autoAdjust="0"/>
  </p:normalViewPr>
  <p:slideViewPr>
    <p:cSldViewPr snapToGrid="0">
      <p:cViewPr varScale="1">
        <p:scale>
          <a:sx n="114" d="100"/>
          <a:sy n="114" d="100"/>
        </p:scale>
        <p:origin x="850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F9E3AF-9FE6-4AA0-BF23-71344A0D23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EBAB3-3494-4749-8CD6-F8E9F9812D0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按指令格式的复杂程度来区分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2892ADB-B628-4756-AD77-3CBD996EA45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浓缩的都是精华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可以存放在</a:t>
            </a:r>
            <a:r>
              <a:rPr lang="zh-CN" altLang="en-US" b="1" dirty="0"/>
              <a:t>寄存器</a:t>
            </a:r>
            <a:r>
              <a:rPr lang="zh-CN" altLang="en-US" dirty="0"/>
              <a:t>或</a:t>
            </a:r>
            <a:r>
              <a:rPr lang="zh-CN" altLang="en-US" b="1" dirty="0"/>
              <a:t>存储器</a:t>
            </a:r>
            <a:r>
              <a:rPr lang="zh-CN" altLang="en-US" dirty="0"/>
              <a:t>中，也可以作为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常数</a:t>
            </a:r>
            <a:r>
              <a:rPr lang="zh-CN" altLang="en-US" dirty="0"/>
              <a:t>存储在</a:t>
            </a:r>
            <a:r>
              <a:rPr lang="zh-CN" altLang="en-US" b="1" dirty="0"/>
              <a:t>指令</a:t>
            </a:r>
            <a:r>
              <a:rPr lang="zh-CN" altLang="en-US" dirty="0"/>
              <a:t>中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寄存器表示方法：</a:t>
            </a:r>
            <a:r>
              <a:rPr lang="en-US" altLang="zh-CN" dirty="0"/>
              <a:t>$t0, $8 </a:t>
            </a:r>
            <a:r>
              <a:rPr lang="zh-CN" altLang="en-US" dirty="0"/>
              <a:t>都可以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注意：</a:t>
            </a:r>
            <a:r>
              <a:rPr lang="en-US" altLang="zh-CN" dirty="0" err="1"/>
              <a:t>jr</a:t>
            </a:r>
            <a:r>
              <a:rPr lang="en-US" altLang="zh-CN" dirty="0"/>
              <a:t> $s0 </a:t>
            </a:r>
            <a:r>
              <a:rPr lang="zh-CN" altLang="en-US" dirty="0"/>
              <a:t>不是</a:t>
            </a:r>
            <a:r>
              <a:rPr lang="en-US" altLang="zh-CN" dirty="0"/>
              <a:t>J</a:t>
            </a:r>
            <a:r>
              <a:rPr lang="zh-CN" altLang="en-US" dirty="0"/>
              <a:t>型，而是</a:t>
            </a:r>
            <a:r>
              <a:rPr lang="en-US" altLang="zh-CN" dirty="0"/>
              <a:t>R</a:t>
            </a:r>
            <a:r>
              <a:rPr lang="zh-CN" altLang="en-US" dirty="0"/>
              <a:t>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Times New Roman" panose="02020603050405020304" pitchFamily="18" charset="0"/>
                <a:cs typeface="Arial" panose="020B0604020202020204" pitchFamily="34" charset="0"/>
              </a:rPr>
              <a:t>特殊用途寄存器</a:t>
            </a:r>
            <a:r>
              <a:rPr lang="en-US" altLang="zh-CN" sz="1200" dirty="0">
                <a:latin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altLang="zh-CN" sz="1200" dirty="0">
                <a:latin typeface="Courier New" panose="02070309020205020404" pitchFamily="49" charset="0"/>
                <a:cs typeface="Arial" panose="020B0604020202020204" pitchFamily="34" charset="0"/>
              </a:rPr>
              <a:t>hi</a:t>
            </a:r>
            <a:r>
              <a:rPr lang="zh-CN" altLang="en-US" sz="1200" dirty="0">
                <a:latin typeface="Courier New" panose="02070309020205020404" pitchFamily="49" charset="0"/>
                <a:cs typeface="Arial" panose="020B0604020202020204" pitchFamily="34" charset="0"/>
              </a:rPr>
              <a:t>，</a:t>
            </a:r>
            <a:r>
              <a:rPr lang="en-US" altLang="zh-CN" sz="1200" dirty="0">
                <a:latin typeface="Courier New" panose="02070309020205020404" pitchFamily="49" charset="0"/>
                <a:cs typeface="Arial" panose="020B0604020202020204" pitchFamily="34" charset="0"/>
              </a:rPr>
              <a:t>lo</a:t>
            </a:r>
            <a:endParaRPr lang="en-US" altLang="zh-CN" sz="12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PC(</a:t>
            </a:r>
            <a:r>
              <a:rPr lang="en-US" altLang="zh-CN" b="1" dirty="0"/>
              <a:t>4C</a:t>
            </a:r>
            <a:r>
              <a:rPr lang="en-US" altLang="zh-CN" dirty="0"/>
              <a:t>)+</a:t>
            </a:r>
            <a:r>
              <a:rPr lang="en-US" altLang="zh-CN" b="1" dirty="0"/>
              <a:t>4</a:t>
            </a:r>
            <a:r>
              <a:rPr lang="en-US" altLang="zh-CN" dirty="0"/>
              <a:t>=</a:t>
            </a:r>
            <a:r>
              <a:rPr lang="en-US" altLang="zh-CN" b="1" dirty="0"/>
              <a:t>50</a:t>
            </a:r>
            <a:endParaRPr lang="en-US" altLang="zh-CN" b="1" dirty="0"/>
          </a:p>
          <a:p>
            <a:r>
              <a:rPr lang="en-US" altLang="zh-CN" b="1" dirty="0"/>
              <a:t>50+2&lt;&lt;2=58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指令中</a:t>
            </a:r>
            <a:r>
              <a:rPr lang="en-US" altLang="zh-CN" sz="1200" dirty="0">
                <a:solidFill>
                  <a:srgbClr val="00B050"/>
                </a:solidFill>
              </a:rPr>
              <a:t>26</a:t>
            </a:r>
            <a:r>
              <a:rPr lang="zh-CN" altLang="en-US" sz="1200" dirty="0">
                <a:solidFill>
                  <a:srgbClr val="00B050"/>
                </a:solidFill>
              </a:rPr>
              <a:t>位</a:t>
            </a:r>
            <a:r>
              <a:rPr lang="zh-CN" altLang="en-US" sz="1200" dirty="0"/>
              <a:t> 转 </a:t>
            </a:r>
            <a:r>
              <a:rPr lang="en-US" altLang="zh-CN" sz="1200" dirty="0"/>
              <a:t>32</a:t>
            </a:r>
            <a:r>
              <a:rPr lang="zh-CN" altLang="en-US" sz="1200" dirty="0"/>
              <a:t>位目的地址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aseline="0" dirty="0"/>
              <a:t>Text Size 52 bytes: 52 / 4 = 13 , </a:t>
            </a:r>
            <a:r>
              <a:rPr lang="zh-CN" altLang="en-US" baseline="0" dirty="0"/>
              <a:t>即</a:t>
            </a:r>
            <a:r>
              <a:rPr lang="en-US" altLang="zh-CN" baseline="0" dirty="0"/>
              <a:t>13</a:t>
            </a:r>
            <a:r>
              <a:rPr lang="zh-CN" altLang="en-US" baseline="0" dirty="0"/>
              <a:t>条语句</a:t>
            </a:r>
            <a:endParaRPr lang="zh-CN" altLang="en-US" dirty="0"/>
          </a:p>
          <a:p>
            <a:r>
              <a:rPr lang="en-US" altLang="zh-CN" dirty="0"/>
              <a:t>Data Size 12 bytes: 12 bytes</a:t>
            </a:r>
            <a:r>
              <a:rPr lang="en-US" altLang="zh-CN" baseline="0" dirty="0"/>
              <a:t> </a:t>
            </a:r>
            <a:r>
              <a:rPr lang="en-US" altLang="zh-CN" dirty="0"/>
              <a:t>/ 4 = 3 words, </a:t>
            </a:r>
            <a:r>
              <a:rPr lang="zh-CN" altLang="en-US" dirty="0"/>
              <a:t>即</a:t>
            </a:r>
            <a:r>
              <a:rPr lang="zh-CN" altLang="en-US" baseline="0" dirty="0"/>
              <a:t> </a:t>
            </a:r>
            <a:r>
              <a:rPr lang="en-US" altLang="zh-CN" baseline="0" dirty="0"/>
              <a:t>f, g, y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B808-9E01-4789-A276-1D267823E7F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824B-6082-404A-898D-1D032BB9044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 dirty="0"/>
              <a:t> </a:t>
            </a:r>
            <a:r>
              <a:rPr lang="en-US" altLang="zh-CN" dirty="0"/>
              <a:t>/ 25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ED048-8325-40C3-BCAA-DD376708334D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365235" y="286297"/>
            <a:ext cx="10515600" cy="1325563"/>
          </a:xfrm>
        </p:spPr>
        <p:txBody>
          <a:bodyPr>
            <a:normAutofit/>
          </a:bodyPr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8ED12-E6C7-44AF-8141-2930CD9C63D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9350A-B200-4809-8D5F-29D22C46D9FD}" type="slidenum">
              <a:rPr lang="zh-CN" altLang="en-US" sz="1400" b="1" smtClean="0"/>
            </a:fld>
            <a:r>
              <a:rPr lang="zh-CN" altLang="en-US" dirty="0"/>
              <a:t> </a:t>
            </a:r>
            <a:r>
              <a:rPr lang="en-US" altLang="zh-CN" dirty="0"/>
              <a:t>/ 25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4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8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2.bin"/><Relationship Id="rId4" Type="http://schemas.openxmlformats.org/officeDocument/2006/relationships/tags" Target="../tags/tag7.xml"/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0" Type="http://schemas.openxmlformats.org/officeDocument/2006/relationships/notesSlide" Target="../notesSlides/notesSlide5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.xml"/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4.bin"/><Relationship Id="rId4" Type="http://schemas.openxmlformats.org/officeDocument/2006/relationships/tags" Target="../tags/tag16.xml"/><Relationship Id="rId3" Type="http://schemas.openxmlformats.org/officeDocument/2006/relationships/image" Target="../media/image16.wmf"/><Relationship Id="rId2" Type="http://schemas.openxmlformats.org/officeDocument/2006/relationships/oleObject" Target="../embeddings/oleObject3.bin"/><Relationship Id="rId1" Type="http://schemas.openxmlformats.org/officeDocument/2006/relationships/tags" Target="../tags/tag1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20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6.bin"/><Relationship Id="rId4" Type="http://schemas.openxmlformats.org/officeDocument/2006/relationships/tags" Target="../tags/tag19.xml"/><Relationship Id="rId3" Type="http://schemas.openxmlformats.org/officeDocument/2006/relationships/image" Target="../media/image18.wmf"/><Relationship Id="rId2" Type="http://schemas.openxmlformats.org/officeDocument/2006/relationships/oleObject" Target="../embeddings/oleObject5.bin"/><Relationship Id="rId1" Type="http://schemas.openxmlformats.org/officeDocument/2006/relationships/tags" Target="../tags/tag1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emf"/><Relationship Id="rId5" Type="http://schemas.openxmlformats.org/officeDocument/2006/relationships/oleObject" Target="../embeddings/oleObject8.bin"/><Relationship Id="rId4" Type="http://schemas.openxmlformats.org/officeDocument/2006/relationships/tags" Target="../tags/tag47.xml"/><Relationship Id="rId3" Type="http://schemas.openxmlformats.org/officeDocument/2006/relationships/image" Target="../media/image27.wmf"/><Relationship Id="rId2" Type="http://schemas.openxmlformats.org/officeDocument/2006/relationships/oleObject" Target="../embeddings/oleObject7.bin"/><Relationship Id="rId12" Type="http://schemas.openxmlformats.org/officeDocument/2006/relationships/notesSlide" Target="../notesSlides/notesSlide15.xml"/><Relationship Id="rId11" Type="http://schemas.openxmlformats.org/officeDocument/2006/relationships/vmlDrawing" Target="../drawings/vmlDrawing4.v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379590" y="1235029"/>
            <a:ext cx="743281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spc="300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计算机体系结构实验</a:t>
            </a:r>
            <a:endParaRPr lang="en-US" altLang="zh-CN" sz="3600" b="1" spc="300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endParaRPr lang="en-US" altLang="zh-CN" sz="2800" b="1" spc="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en-US" altLang="zh-CN" sz="2800" b="1" spc="300" dirty="0">
                <a:solidFill>
                  <a:prstClr val="black"/>
                </a:solidFill>
                <a:latin typeface="+mj-ea"/>
                <a:ea typeface="+mj-ea"/>
              </a:rPr>
              <a:t>Lab2-1: Head first MIPS</a:t>
            </a:r>
            <a:endParaRPr lang="en-US" altLang="zh-CN" sz="2800" b="1" spc="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63918" cy="365125"/>
          </a:xfrm>
        </p:spPr>
        <p:txBody>
          <a:bodyPr/>
          <a:lstStyle/>
          <a:p>
            <a:fld id="{DBBDC23C-821B-4AA1-A4A3-BCE82505381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253994" y="3587900"/>
            <a:ext cx="404396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主讲老师：刘森</a:t>
            </a:r>
            <a:endParaRPr lang="en-US" altLang="zh-CN" sz="2400" dirty="0"/>
          </a:p>
          <a:p>
            <a:pPr algn="ctr"/>
            <a:endParaRPr lang="en-US" altLang="zh-CN" sz="2400" dirty="0"/>
          </a:p>
          <a:p>
            <a:pPr algn="ctr"/>
            <a:r>
              <a:rPr lang="zh-CN" altLang="en-US" sz="2400" dirty="0">
                <a:sym typeface="+mn-ea"/>
              </a:rPr>
              <a:t>助教：薛敏坤 </a:t>
            </a:r>
            <a:r>
              <a:rPr lang="en-US" altLang="zh-CN" sz="2400" dirty="0">
                <a:sym typeface="+mn-ea"/>
              </a:rPr>
              <a:t> </a:t>
            </a:r>
            <a:r>
              <a:rPr lang="zh-CN" altLang="en-US" sz="2400" dirty="0">
                <a:sym typeface="+mn-ea"/>
              </a:rPr>
              <a:t>赵珂玉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直接连接符 39"/>
          <p:cNvCxnSpPr/>
          <p:nvPr/>
        </p:nvCxnSpPr>
        <p:spPr>
          <a:xfrm>
            <a:off x="5819889" y="1243781"/>
            <a:ext cx="0" cy="5614219"/>
          </a:xfrm>
          <a:prstGeom prst="line">
            <a:avLst/>
          </a:prstGeom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0"/>
            <a:ext cx="12192000" cy="12437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64948" y="2345"/>
            <a:ext cx="2877993" cy="986155"/>
          </a:xfrm>
        </p:spPr>
        <p:txBody>
          <a:bodyPr>
            <a:normAutofit/>
          </a:bodyPr>
          <a:lstStyle/>
          <a:p>
            <a:r>
              <a:rPr lang="en-US" altLang="zh-CN" sz="3200" b="1" spc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  <a:t>CISC       RISC</a:t>
            </a:r>
            <a:r>
              <a:rPr lang="en-US" altLang="zh-CN" sz="3200" dirty="0"/>
              <a:t>          </a:t>
            </a:r>
            <a:endParaRPr lang="zh-CN" altLang="en-US" sz="3200" dirty="0"/>
          </a:p>
        </p:txBody>
      </p:sp>
      <p:sp>
        <p:nvSpPr>
          <p:cNvPr id="7" name="文本框 6"/>
          <p:cNvSpPr txBox="1"/>
          <p:nvPr/>
        </p:nvSpPr>
        <p:spPr>
          <a:xfrm>
            <a:off x="6758794" y="1357435"/>
            <a:ext cx="5280613" cy="22520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采用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简化的指令系统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指令集只包含常用的指令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提供大量</a:t>
            </a:r>
            <a:r>
              <a:rPr kumimoji="0" lang="zh-CN" alt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通用寄存器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 少访问内存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只有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Load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Store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指令才能访问内存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4106" y="1371236"/>
            <a:ext cx="4474302" cy="22520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采用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复杂的指令系统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指令数量多，功能复杂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指令长度可变，指令格式多样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寻址方式多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580032" y="310756"/>
            <a:ext cx="457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VS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895435" y="4661758"/>
            <a:ext cx="10022824" cy="2069850"/>
            <a:chOff x="997632" y="3988243"/>
            <a:chExt cx="10022824" cy="2069850"/>
          </a:xfrm>
        </p:grpSpPr>
        <p:sp>
          <p:nvSpPr>
            <p:cNvPr id="3" name="文本框 2"/>
            <p:cNvSpPr txBox="1"/>
            <p:nvPr/>
          </p:nvSpPr>
          <p:spPr>
            <a:xfrm>
              <a:off x="997632" y="4504766"/>
              <a:ext cx="4011147" cy="86793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lvl="0" defTabSz="914400">
                <a:lnSpc>
                  <a:spcPct val="120000"/>
                </a:lnSpc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ADDL (R9), (R10), </a:t>
              </a:r>
              <a:r>
                <a:rPr lang="en-US" altLang="zh-CN" sz="2400" b="1" dirty="0">
                  <a:solidFill>
                    <a:prstClr val="black"/>
                  </a:solidFill>
                  <a:latin typeface="等线" panose="02010600030101010101" charset="-122"/>
                </a:rPr>
                <a:t>(R11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)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; mem[R9] ← mem[R10] + mem[R11]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976867" y="4488433"/>
              <a:ext cx="4043589" cy="156966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lw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R1, (R10) 	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# R1 ← mem[R10]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lw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R2, (R11) 	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# R2 ← mem[R11]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add R3, R1, R2 	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# R3 ← R1+R2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sw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R3, (R9) 	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# mem[R9] ← R3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026228" y="3988243"/>
              <a:ext cx="787395" cy="4378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MIPS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2687890" y="3991633"/>
              <a:ext cx="679994" cy="4378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sz="2000" b="1" dirty="0">
                  <a:solidFill>
                    <a:schemeClr val="bg1">
                      <a:lumMod val="50000"/>
                    </a:schemeClr>
                  </a:solidFill>
                  <a:latin typeface="等线" panose="02010600030101010101" charset="-122"/>
                  <a:ea typeface="等线" panose="02010600030101010101" charset="-122"/>
                </a:rPr>
                <a:t>VAX</a:t>
              </a:r>
              <a:endParaRPr lang="en-US" altLang="zh-CN" sz="2000" b="1" dirty="0">
                <a:solidFill>
                  <a:schemeClr val="bg1">
                    <a:lumMod val="50000"/>
                  </a:schemeClr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等号 18"/>
            <p:cNvSpPr/>
            <p:nvPr/>
          </p:nvSpPr>
          <p:spPr>
            <a:xfrm>
              <a:off x="5273125" y="4750703"/>
              <a:ext cx="1336040" cy="340360"/>
            </a:xfrm>
            <a:prstGeom prst="mathEqual">
              <a:avLst>
                <a:gd name="adj1" fmla="val 17089"/>
                <a:gd name="adj2" fmla="val 2462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30352" y="187645"/>
            <a:ext cx="3690434" cy="956807"/>
            <a:chOff x="840940" y="245625"/>
            <a:chExt cx="3690434" cy="956807"/>
          </a:xfrm>
        </p:grpSpPr>
        <p:sp>
          <p:nvSpPr>
            <p:cNvPr id="6" name="文本框 5"/>
            <p:cNvSpPr txBox="1"/>
            <p:nvPr/>
          </p:nvSpPr>
          <p:spPr>
            <a:xfrm>
              <a:off x="840940" y="802322"/>
              <a:ext cx="3690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C</a:t>
              </a:r>
              <a:r>
                <a:rPr kumimoji="0" lang="en-US" altLang="zh-CN" sz="2000" b="0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omplex </a:t>
              </a:r>
              <a:r>
                <a:rPr kumimoji="0" lang="en-US" altLang="zh-CN" sz="20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I</a:t>
              </a:r>
              <a:r>
                <a:rPr kumimoji="0" lang="en-US" altLang="zh-CN" sz="2000" b="0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nstruction </a:t>
              </a:r>
              <a:r>
                <a:rPr kumimoji="0" lang="en-US" altLang="zh-CN" sz="20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S</a:t>
              </a:r>
              <a:r>
                <a:rPr kumimoji="0" lang="en-US" altLang="zh-CN" sz="2000" b="0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et </a:t>
              </a:r>
              <a:r>
                <a:rPr kumimoji="0" lang="en-US" altLang="zh-CN" sz="20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C</a:t>
              </a:r>
              <a:r>
                <a:rPr kumimoji="0" lang="en-US" altLang="zh-CN" sz="2000" b="0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omputer</a:t>
              </a:r>
              <a:endParaRPr kumimoji="0" lang="zh-CN" altLang="en-US" sz="20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849757" y="245625"/>
              <a:ext cx="367280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复杂指令集计算机</a:t>
              </a:r>
              <a:endPara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305271" y="193329"/>
            <a:ext cx="3672800" cy="951123"/>
            <a:chOff x="7681000" y="245625"/>
            <a:chExt cx="3672800" cy="951123"/>
          </a:xfrm>
        </p:grpSpPr>
        <p:sp>
          <p:nvSpPr>
            <p:cNvPr id="5" name="文本框 4"/>
            <p:cNvSpPr txBox="1"/>
            <p:nvPr/>
          </p:nvSpPr>
          <p:spPr>
            <a:xfrm>
              <a:off x="7718670" y="796638"/>
              <a:ext cx="35974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R</a:t>
              </a:r>
              <a:r>
                <a:rPr kumimoji="0" lang="en-US" altLang="zh-CN" sz="2000" b="0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educed </a:t>
              </a:r>
              <a:r>
                <a:rPr kumimoji="0" lang="en-US" altLang="zh-CN" sz="20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I</a:t>
              </a:r>
              <a:r>
                <a:rPr kumimoji="0" lang="en-US" altLang="zh-CN" sz="2000" b="0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nstruction </a:t>
              </a:r>
              <a:r>
                <a:rPr kumimoji="0" lang="en-US" altLang="zh-CN" sz="20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</a:t>
              </a:r>
              <a:r>
                <a:rPr kumimoji="0" lang="en-US" altLang="zh-CN" sz="2000" b="0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et </a:t>
              </a:r>
              <a:r>
                <a:rPr kumimoji="0" lang="en-US" altLang="zh-CN" sz="20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C</a:t>
              </a:r>
              <a:r>
                <a:rPr kumimoji="0" lang="en-US" altLang="zh-CN" sz="2000" b="0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omputer</a:t>
              </a:r>
              <a:endParaRPr kumimoji="0" lang="zh-CN" altLang="en-US" sz="20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7681000" y="245625"/>
              <a:ext cx="367280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精简指令集计算机</a:t>
              </a:r>
              <a:endPara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9666921" y="3698838"/>
            <a:ext cx="2436973" cy="1286665"/>
            <a:chOff x="9666921" y="3698838"/>
            <a:chExt cx="2436973" cy="1286665"/>
          </a:xfrm>
        </p:grpSpPr>
        <p:grpSp>
          <p:nvGrpSpPr>
            <p:cNvPr id="24" name="组合 23"/>
            <p:cNvGrpSpPr/>
            <p:nvPr/>
          </p:nvGrpSpPr>
          <p:grpSpPr>
            <a:xfrm>
              <a:off x="9666921" y="3698838"/>
              <a:ext cx="954940" cy="1286665"/>
              <a:chOff x="9666921" y="3698838"/>
              <a:chExt cx="954940" cy="1286665"/>
            </a:xfrm>
          </p:grpSpPr>
          <p:sp>
            <p:nvSpPr>
              <p:cNvPr id="20" name="立方体 19"/>
              <p:cNvSpPr/>
              <p:nvPr/>
            </p:nvSpPr>
            <p:spPr>
              <a:xfrm>
                <a:off x="9960265" y="4762126"/>
                <a:ext cx="368253" cy="107529"/>
              </a:xfrm>
              <a:prstGeom prst="cube">
                <a:avLst/>
              </a:prstGeom>
              <a:solidFill>
                <a:srgbClr val="92D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立方体 20"/>
              <p:cNvSpPr/>
              <p:nvPr/>
            </p:nvSpPr>
            <p:spPr>
              <a:xfrm>
                <a:off x="9960265" y="4877974"/>
                <a:ext cx="368253" cy="107529"/>
              </a:xfrm>
              <a:prstGeom prst="cube">
                <a:avLst/>
              </a:prstGeom>
              <a:solidFill>
                <a:srgbClr val="92D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立方体 21"/>
              <p:cNvSpPr/>
              <p:nvPr/>
            </p:nvSpPr>
            <p:spPr>
              <a:xfrm>
                <a:off x="9960265" y="4646276"/>
                <a:ext cx="368253" cy="107529"/>
              </a:xfrm>
              <a:prstGeom prst="cube">
                <a:avLst/>
              </a:prstGeom>
              <a:solidFill>
                <a:srgbClr val="92D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立方体 22"/>
              <p:cNvSpPr/>
              <p:nvPr/>
            </p:nvSpPr>
            <p:spPr>
              <a:xfrm>
                <a:off x="9960265" y="4530426"/>
                <a:ext cx="368253" cy="107529"/>
              </a:xfrm>
              <a:prstGeom prst="cube">
                <a:avLst/>
              </a:prstGeom>
              <a:solidFill>
                <a:srgbClr val="92D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立方体 24"/>
              <p:cNvSpPr/>
              <p:nvPr/>
            </p:nvSpPr>
            <p:spPr>
              <a:xfrm>
                <a:off x="9960265" y="4414576"/>
                <a:ext cx="368253" cy="107529"/>
              </a:xfrm>
              <a:prstGeom prst="cube">
                <a:avLst/>
              </a:prstGeom>
              <a:solidFill>
                <a:srgbClr val="92D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立方体 25"/>
              <p:cNvSpPr/>
              <p:nvPr/>
            </p:nvSpPr>
            <p:spPr>
              <a:xfrm>
                <a:off x="9960265" y="4182876"/>
                <a:ext cx="368253" cy="107529"/>
              </a:xfrm>
              <a:prstGeom prst="cube">
                <a:avLst/>
              </a:prstGeom>
              <a:solidFill>
                <a:srgbClr val="92D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立方体 26"/>
              <p:cNvSpPr/>
              <p:nvPr/>
            </p:nvSpPr>
            <p:spPr>
              <a:xfrm>
                <a:off x="9960265" y="4067026"/>
                <a:ext cx="368253" cy="107529"/>
              </a:xfrm>
              <a:prstGeom prst="cube">
                <a:avLst/>
              </a:prstGeom>
              <a:solidFill>
                <a:srgbClr val="92D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立方体 27"/>
              <p:cNvSpPr/>
              <p:nvPr/>
            </p:nvSpPr>
            <p:spPr>
              <a:xfrm>
                <a:off x="9960265" y="4298726"/>
                <a:ext cx="368253" cy="107529"/>
              </a:xfrm>
              <a:prstGeom prst="cube">
                <a:avLst/>
              </a:prstGeom>
              <a:solidFill>
                <a:srgbClr val="92D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9666921" y="3698838"/>
                <a:ext cx="95494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00B050"/>
                    </a:solidFill>
                  </a:rPr>
                  <a:t>Register</a:t>
                </a:r>
                <a:endParaRPr lang="en-US" altLang="zh-CN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11099067" y="3698838"/>
              <a:ext cx="1004827" cy="1256929"/>
              <a:chOff x="11099067" y="3698838"/>
              <a:chExt cx="1004827" cy="1256929"/>
            </a:xfrm>
          </p:grpSpPr>
          <p:sp>
            <p:nvSpPr>
              <p:cNvPr id="30" name="流程图: 磁盘 29"/>
              <p:cNvSpPr/>
              <p:nvPr/>
            </p:nvSpPr>
            <p:spPr>
              <a:xfrm>
                <a:off x="11376102" y="4085585"/>
                <a:ext cx="450758" cy="870182"/>
              </a:xfrm>
              <a:prstGeom prst="flowChartMagneticDisk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11099067" y="3698838"/>
                <a:ext cx="10048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Memory</a:t>
                </a:r>
                <a:endParaRPr lang="zh-CN" altLang="en-US" dirty="0"/>
              </a:p>
            </p:txBody>
          </p:sp>
        </p:grpSp>
      </p:grpSp>
      <p:grpSp>
        <p:nvGrpSpPr>
          <p:cNvPr id="39" name="组合 38"/>
          <p:cNvGrpSpPr/>
          <p:nvPr/>
        </p:nvGrpSpPr>
        <p:grpSpPr>
          <a:xfrm>
            <a:off x="10518999" y="4599375"/>
            <a:ext cx="706635" cy="424811"/>
            <a:chOff x="4730391" y="4058138"/>
            <a:chExt cx="706635" cy="424811"/>
          </a:xfrm>
        </p:grpSpPr>
        <p:sp>
          <p:nvSpPr>
            <p:cNvPr id="32" name="右箭头 19"/>
            <p:cNvSpPr/>
            <p:nvPr/>
          </p:nvSpPr>
          <p:spPr>
            <a:xfrm>
              <a:off x="4730391" y="4058138"/>
              <a:ext cx="706635" cy="13339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4730391" y="4113617"/>
              <a:ext cx="67954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Store</a:t>
              </a:r>
              <a:endParaRPr lang="zh-CN" altLang="en-US" dirty="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0457761" y="4027689"/>
            <a:ext cx="709162" cy="480838"/>
            <a:chOff x="4730390" y="4555091"/>
            <a:chExt cx="709162" cy="480838"/>
          </a:xfrm>
        </p:grpSpPr>
        <p:sp>
          <p:nvSpPr>
            <p:cNvPr id="34" name="右箭头 21"/>
            <p:cNvSpPr/>
            <p:nvPr/>
          </p:nvSpPr>
          <p:spPr>
            <a:xfrm flipH="1">
              <a:off x="4730390" y="4898638"/>
              <a:ext cx="709162" cy="13729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790466" y="4555091"/>
              <a:ext cx="63671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Load</a:t>
              </a:r>
              <a:endParaRPr lang="zh-CN" altLang="en-US" dirty="0"/>
            </a:p>
          </p:txBody>
        </p:sp>
      </p:grpSp>
      <p:sp>
        <p:nvSpPr>
          <p:cNvPr id="42" name="灯片编号占位符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4000" dirty="0"/>
              <a:t>MIPS </a:t>
            </a:r>
            <a:r>
              <a:rPr lang="zh-CN" altLang="en-US" sz="4000" dirty="0"/>
              <a:t>体系结构设计的</a:t>
            </a:r>
            <a:r>
              <a:rPr lang="en-US" altLang="zh-CN" sz="4000" dirty="0"/>
              <a:t>4</a:t>
            </a:r>
            <a:r>
              <a:rPr lang="zh-CN" altLang="en-US" sz="4000" dirty="0"/>
              <a:t>个</a:t>
            </a:r>
            <a:r>
              <a:rPr lang="zh-CN" altLang="en-US" sz="4000" b="1" dirty="0"/>
              <a:t>准则</a:t>
            </a:r>
            <a:endParaRPr lang="zh-CN" altLang="en-US" sz="4000" b="1" dirty="0"/>
          </a:p>
        </p:txBody>
      </p:sp>
      <p:sp>
        <p:nvSpPr>
          <p:cNvPr id="16" name="文本框 15"/>
          <p:cNvSpPr txBox="1"/>
          <p:nvPr/>
        </p:nvSpPr>
        <p:spPr>
          <a:xfrm>
            <a:off x="697661" y="1226349"/>
            <a:ext cx="10700365" cy="3419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2800" b="1" dirty="0"/>
              <a:t>简单设计</a:t>
            </a:r>
            <a:r>
              <a:rPr lang="zh-CN" altLang="en-US" sz="2800" dirty="0"/>
              <a:t>有助于规整化。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如，指令长度相同，格式固定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2800" dirty="0"/>
              <a:t>加快</a:t>
            </a:r>
            <a:r>
              <a:rPr lang="zh-CN" altLang="en-US" sz="2800" b="1" dirty="0"/>
              <a:t>常见功能</a:t>
            </a:r>
            <a:r>
              <a:rPr lang="zh-CN" altLang="en-US" sz="2800" dirty="0"/>
              <a:t>。         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如，指令集中只包含最常用的指令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2800" b="1" dirty="0"/>
              <a:t>越小的设计</a:t>
            </a:r>
            <a:r>
              <a:rPr lang="zh-CN" altLang="en-US" sz="2800" dirty="0"/>
              <a:t>越快。     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如，较少的硬件将有更少的延迟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2800" dirty="0"/>
              <a:t>好的设计需要</a:t>
            </a:r>
            <a:r>
              <a:rPr lang="zh-CN" altLang="en-US" sz="2800" b="1" dirty="0"/>
              <a:t>好的折中方法</a:t>
            </a:r>
            <a:r>
              <a:rPr lang="zh-CN" altLang="en-US" sz="2800" dirty="0"/>
              <a:t>。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如，指令有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种格式，采用扩展码技术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7247" y="793088"/>
            <a:ext cx="1764753" cy="2737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1606132" y="5807611"/>
            <a:ext cx="8979735" cy="922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“</a:t>
            </a:r>
            <a:r>
              <a:rPr lang="zh-CN" altLang="en-US" sz="2000" b="1" dirty="0"/>
              <a:t>要使某些事情变得非常复杂是非常简单的</a:t>
            </a:r>
            <a:r>
              <a:rPr lang="zh-CN" altLang="en-US" dirty="0"/>
              <a:t>；</a:t>
            </a:r>
            <a:r>
              <a:rPr lang="zh-CN" altLang="en-US" sz="2000" b="1" dirty="0"/>
              <a:t>但要使它变得简单将非常复杂</a:t>
            </a:r>
            <a:r>
              <a:rPr lang="zh-CN" altLang="en-US" dirty="0"/>
              <a:t>。”</a:t>
            </a:r>
            <a:endParaRPr lang="en-US" altLang="zh-CN" dirty="0"/>
          </a:p>
          <a:p>
            <a:pPr algn="r">
              <a:lnSpc>
                <a:spcPct val="150000"/>
              </a:lnSpc>
            </a:pPr>
            <a:r>
              <a:rPr lang="zh-CN" altLang="en-US" dirty="0"/>
              <a:t>苏联 著名枪械</a:t>
            </a:r>
            <a:r>
              <a:rPr lang="en-US" altLang="zh-CN" dirty="0"/>
              <a:t>(</a:t>
            </a:r>
            <a:r>
              <a:rPr lang="zh-CN" altLang="en-US" dirty="0"/>
              <a:t>波波沙冲锋枪</a:t>
            </a:r>
            <a:r>
              <a:rPr lang="en-US" altLang="zh-CN" dirty="0"/>
              <a:t>)</a:t>
            </a:r>
            <a:r>
              <a:rPr lang="zh-CN" altLang="en-US" dirty="0"/>
              <a:t>设计师 </a:t>
            </a:r>
            <a:r>
              <a:rPr lang="zh-CN" altLang="en-US" b="1" dirty="0"/>
              <a:t>沙普金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10427247" y="3644364"/>
            <a:ext cx="1628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John Hennessy 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732988" y="5047767"/>
            <a:ext cx="6627135" cy="64633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Georgia" panose="02040502050405020303" pitchFamily="18" charset="0"/>
                <a:ea typeface="等线" panose="02010600030101010101" charset="-122"/>
                <a:cs typeface="+mn-cs"/>
              </a:rPr>
              <a:t> A simpler CPU is a faster CPU. </a:t>
            </a:r>
            <a:endParaRPr kumimoji="0" lang="zh-CN" altLang="en-US" sz="3600" b="0" i="0" u="none" strike="noStrike" kern="1200" cap="none" spc="0" normalizeH="0" baseline="0" noProof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uLnTx/>
              <a:uFillTx/>
              <a:latin typeface="Georgia" panose="02040502050405020303" pitchFamily="18" charset="0"/>
              <a:ea typeface="等线" panose="02010600030101010101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 dirty="0"/>
              <a:t> </a:t>
            </a:r>
            <a:r>
              <a:rPr lang="en-US" altLang="zh-CN" dirty="0"/>
              <a:t>/ 25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4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22710" y="4193882"/>
            <a:ext cx="1346580" cy="2628438"/>
          </a:xfrm>
          <a:noFill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altLang="zh-CN" b="1" dirty="0"/>
              <a:t>MIPS</a:t>
            </a:r>
            <a:br>
              <a:rPr lang="en-US" altLang="zh-CN" b="1" dirty="0"/>
            </a:br>
            <a:r>
              <a:rPr lang="zh-CN" altLang="en-US" b="1" dirty="0"/>
              <a:t>指</a:t>
            </a:r>
            <a:br>
              <a:rPr lang="en-US" altLang="zh-CN" b="1" dirty="0"/>
            </a:br>
            <a:r>
              <a:rPr lang="zh-CN" altLang="en-US" b="1" dirty="0"/>
              <a:t>令</a:t>
            </a:r>
            <a:br>
              <a:rPr lang="en-US" altLang="zh-CN" b="1" dirty="0"/>
            </a:br>
            <a:r>
              <a:rPr lang="zh-CN" altLang="en-US" b="1" dirty="0"/>
              <a:t>集</a:t>
            </a:r>
            <a:endParaRPr lang="zh-CN" altLang="en-US" b="1" dirty="0"/>
          </a:p>
        </p:txBody>
      </p:sp>
      <p:grpSp>
        <p:nvGrpSpPr>
          <p:cNvPr id="11" name="组合 10"/>
          <p:cNvGrpSpPr/>
          <p:nvPr/>
        </p:nvGrpSpPr>
        <p:grpSpPr>
          <a:xfrm>
            <a:off x="289551" y="35680"/>
            <a:ext cx="4977156" cy="6791100"/>
            <a:chOff x="289551" y="35680"/>
            <a:chExt cx="4977156" cy="679110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89551" y="35680"/>
              <a:ext cx="4977156" cy="5767411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9551" y="5799402"/>
              <a:ext cx="4977156" cy="1027378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289549" y="1121449"/>
            <a:ext cx="4958716" cy="5290544"/>
            <a:chOff x="289549" y="1121449"/>
            <a:chExt cx="4958716" cy="5290544"/>
          </a:xfrm>
        </p:grpSpPr>
        <p:sp>
          <p:nvSpPr>
            <p:cNvPr id="29" name="矩形: 圆角 28"/>
            <p:cNvSpPr/>
            <p:nvPr/>
          </p:nvSpPr>
          <p:spPr>
            <a:xfrm>
              <a:off x="289550" y="5167427"/>
              <a:ext cx="4958715" cy="216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/>
            <p:cNvSpPr/>
            <p:nvPr/>
          </p:nvSpPr>
          <p:spPr>
            <a:xfrm>
              <a:off x="289550" y="6195993"/>
              <a:ext cx="4958715" cy="216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: 圆角 39"/>
            <p:cNvSpPr/>
            <p:nvPr/>
          </p:nvSpPr>
          <p:spPr>
            <a:xfrm>
              <a:off x="289549" y="1121449"/>
              <a:ext cx="4958715" cy="216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367284" y="229059"/>
            <a:ext cx="7500974" cy="6118716"/>
            <a:chOff x="4367284" y="229059"/>
            <a:chExt cx="7500974" cy="6118716"/>
          </a:xfrm>
        </p:grpSpPr>
        <p:grpSp>
          <p:nvGrpSpPr>
            <p:cNvPr id="14" name="组合 13"/>
            <p:cNvGrpSpPr/>
            <p:nvPr/>
          </p:nvGrpSpPr>
          <p:grpSpPr>
            <a:xfrm>
              <a:off x="4367284" y="229059"/>
              <a:ext cx="7500974" cy="6118716"/>
              <a:chOff x="4367284" y="229059"/>
              <a:chExt cx="7500974" cy="6118716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6909543" y="229059"/>
                <a:ext cx="4958715" cy="6118716"/>
                <a:chOff x="6909543" y="229059"/>
                <a:chExt cx="4958715" cy="6118716"/>
              </a:xfrm>
            </p:grpSpPr>
            <p:pic>
              <p:nvPicPr>
                <p:cNvPr id="6" name="图片 5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09543" y="4299138"/>
                  <a:ext cx="4958715" cy="2048637"/>
                </a:xfrm>
                <a:prstGeom prst="rect">
                  <a:avLst/>
                </a:prstGeom>
              </p:spPr>
            </p:pic>
            <p:pic>
              <p:nvPicPr>
                <p:cNvPr id="5" name="图片 4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09543" y="229059"/>
                  <a:ext cx="4958715" cy="4079177"/>
                </a:xfrm>
                <a:prstGeom prst="rect">
                  <a:avLst/>
                </a:prstGeom>
              </p:spPr>
            </p:pic>
          </p:grpSp>
          <p:sp>
            <p:nvSpPr>
              <p:cNvPr id="18" name="箭头: 右 17"/>
              <p:cNvSpPr/>
              <p:nvPr/>
            </p:nvSpPr>
            <p:spPr>
              <a:xfrm>
                <a:off x="4367284" y="233611"/>
                <a:ext cx="2492991" cy="127380"/>
              </a:xfrm>
              <a:prstGeom prst="rightArrow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1" name="矩形 40"/>
            <p:cNvSpPr/>
            <p:nvPr/>
          </p:nvSpPr>
          <p:spPr>
            <a:xfrm>
              <a:off x="5681928" y="283375"/>
              <a:ext cx="7986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R-type</a:t>
              </a:r>
              <a:endParaRPr lang="zh-CN" altLang="en-US" dirty="0"/>
            </a:p>
          </p:txBody>
        </p:sp>
      </p:grpSp>
      <p:sp>
        <p:nvSpPr>
          <p:cNvPr id="42" name="矩形 41"/>
          <p:cNvSpPr/>
          <p:nvPr/>
        </p:nvSpPr>
        <p:spPr>
          <a:xfrm>
            <a:off x="7029729" y="6332943"/>
            <a:ext cx="36397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理论上，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Load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/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Store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/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Inc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/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Branch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四种指令，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足够编制任何可计算程序，但程序会很长。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4890448" y="2079718"/>
            <a:ext cx="3206931" cy="2000963"/>
            <a:chOff x="4890448" y="2079718"/>
            <a:chExt cx="3206931" cy="2000963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41200" y="2429329"/>
              <a:ext cx="2656179" cy="1649729"/>
            </a:xfrm>
            <a:prstGeom prst="rect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9" name="箭头: 右 8"/>
            <p:cNvSpPr/>
            <p:nvPr/>
          </p:nvSpPr>
          <p:spPr>
            <a:xfrm>
              <a:off x="4890448" y="3953301"/>
              <a:ext cx="595951" cy="12738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5706309" y="2079718"/>
              <a:ext cx="77938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F-type</a:t>
              </a:r>
              <a:endParaRPr lang="zh-CN" altLang="en-US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909541" y="4290040"/>
            <a:ext cx="4958717" cy="1846495"/>
            <a:chOff x="6909541" y="4290040"/>
            <a:chExt cx="4958717" cy="1846495"/>
          </a:xfrm>
        </p:grpSpPr>
        <p:sp>
          <p:nvSpPr>
            <p:cNvPr id="8" name="矩形: 圆角 7"/>
            <p:cNvSpPr/>
            <p:nvPr/>
          </p:nvSpPr>
          <p:spPr>
            <a:xfrm>
              <a:off x="6909543" y="4290040"/>
              <a:ext cx="4958715" cy="216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: 圆角 25"/>
            <p:cNvSpPr/>
            <p:nvPr/>
          </p:nvSpPr>
          <p:spPr>
            <a:xfrm>
              <a:off x="6909543" y="4698854"/>
              <a:ext cx="4958715" cy="216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6909542" y="5920535"/>
              <a:ext cx="4958715" cy="216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: 圆角 30"/>
            <p:cNvSpPr/>
            <p:nvPr/>
          </p:nvSpPr>
          <p:spPr>
            <a:xfrm>
              <a:off x="6909542" y="5104240"/>
              <a:ext cx="4958715" cy="216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: 圆角 31"/>
            <p:cNvSpPr/>
            <p:nvPr/>
          </p:nvSpPr>
          <p:spPr>
            <a:xfrm>
              <a:off x="6909541" y="5311841"/>
              <a:ext cx="4958715" cy="216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/>
          <p:cNvSpPr/>
          <p:nvPr/>
        </p:nvSpPr>
        <p:spPr>
          <a:xfrm>
            <a:off x="4317743" y="802886"/>
            <a:ext cx="3357885" cy="3775448"/>
          </a:xfrm>
          <a:prstGeom prst="roundRect">
            <a:avLst>
              <a:gd name="adj" fmla="val 653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2667227" y="802886"/>
            <a:ext cx="1333829" cy="377544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" y="-1044"/>
            <a:ext cx="12192000" cy="756000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000" b="1" dirty="0"/>
              <a:t>操作数：</a:t>
            </a:r>
            <a:r>
              <a:rPr lang="zh-CN" altLang="en-US" sz="3600" dirty="0">
                <a:solidFill>
                  <a:srgbClr val="0070C0"/>
                </a:solidFill>
              </a:rPr>
              <a:t>寄存器</a:t>
            </a:r>
            <a:r>
              <a:rPr lang="zh-CN" altLang="en-US" sz="3600" dirty="0">
                <a:solidFill>
                  <a:schemeClr val="bg1">
                    <a:lumMod val="50000"/>
                  </a:schemeClr>
                </a:solidFill>
              </a:rPr>
              <a:t>、存储器、常数</a:t>
            </a:r>
            <a:endParaRPr lang="en-US" altLang="zh-CN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010676" y="2021946"/>
            <a:ext cx="4134465" cy="1956578"/>
            <a:chOff x="3010676" y="2021946"/>
            <a:chExt cx="4134465" cy="1956578"/>
          </a:xfrm>
        </p:grpSpPr>
        <p:sp>
          <p:nvSpPr>
            <p:cNvPr id="3" name="矩形 2"/>
            <p:cNvSpPr/>
            <p:nvPr/>
          </p:nvSpPr>
          <p:spPr>
            <a:xfrm>
              <a:off x="3010676" y="2021946"/>
              <a:ext cx="413446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add</a:t>
              </a:r>
              <a:r>
                <a:rPr lang="en-US" altLang="zh-CN" sz="32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t , b ,  c</a:t>
              </a:r>
              <a:endParaRPr lang="en-US" altLang="zh-CN" sz="32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3010676" y="3393749"/>
              <a:ext cx="413446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sub</a:t>
              </a:r>
              <a:r>
                <a:rPr lang="en-US" altLang="zh-CN" sz="32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a , t ,  d</a:t>
              </a:r>
              <a:endParaRPr lang="en-US" altLang="zh-CN" sz="32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815503" y="1056221"/>
            <a:ext cx="1943161" cy="2891525"/>
            <a:chOff x="7815503" y="1056221"/>
            <a:chExt cx="1943161" cy="2891525"/>
          </a:xfrm>
        </p:grpSpPr>
        <p:sp>
          <p:nvSpPr>
            <p:cNvPr id="14" name="矩形 13"/>
            <p:cNvSpPr/>
            <p:nvPr/>
          </p:nvSpPr>
          <p:spPr>
            <a:xfrm>
              <a:off x="8097631" y="2052723"/>
              <a:ext cx="147989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1">
                      <a:lumMod val="50000"/>
                    </a:schemeClr>
                  </a:solidFill>
                </a:rPr>
                <a:t>t</a:t>
              </a:r>
              <a:r>
                <a:rPr lang="en-US" altLang="zh-CN" sz="2800" dirty="0"/>
                <a:t> = b + c;</a:t>
              </a:r>
              <a:endParaRPr lang="zh-CN" altLang="en-US" sz="2800" dirty="0"/>
            </a:p>
          </p:txBody>
        </p:sp>
        <p:sp>
          <p:nvSpPr>
            <p:cNvPr id="48" name="矩形 47"/>
            <p:cNvSpPr/>
            <p:nvPr/>
          </p:nvSpPr>
          <p:spPr>
            <a:xfrm>
              <a:off x="8097631" y="3424526"/>
              <a:ext cx="137890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a = </a:t>
              </a:r>
              <a:r>
                <a:rPr lang="en-US" altLang="zh-CN" sz="2800" dirty="0">
                  <a:solidFill>
                    <a:schemeClr val="bg1">
                      <a:lumMod val="50000"/>
                    </a:schemeClr>
                  </a:solidFill>
                </a:rPr>
                <a:t>t</a:t>
              </a:r>
              <a:r>
                <a:rPr lang="en-US" altLang="zh-CN" sz="2800" dirty="0"/>
                <a:t> - d;</a:t>
              </a:r>
              <a:endParaRPr lang="zh-CN" altLang="en-US" sz="2800" dirty="0"/>
            </a:p>
          </p:txBody>
        </p:sp>
        <p:sp>
          <p:nvSpPr>
            <p:cNvPr id="52" name="矩形 51"/>
            <p:cNvSpPr/>
            <p:nvPr/>
          </p:nvSpPr>
          <p:spPr>
            <a:xfrm>
              <a:off x="7815503" y="1056221"/>
              <a:ext cx="194316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a = b + c - d;</a:t>
              </a:r>
              <a:endParaRPr lang="zh-CN" altLang="en-US" sz="2800" dirty="0"/>
            </a:p>
          </p:txBody>
        </p:sp>
        <p:sp>
          <p:nvSpPr>
            <p:cNvPr id="10" name="下箭头 9"/>
            <p:cNvSpPr/>
            <p:nvPr/>
          </p:nvSpPr>
          <p:spPr>
            <a:xfrm>
              <a:off x="8529975" y="1702041"/>
              <a:ext cx="481264" cy="326882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3010674" y="2602523"/>
            <a:ext cx="46281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altLang="zh-CN" sz="3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$t0, $s1, $s2</a:t>
            </a:r>
            <a:endParaRPr lang="en-US" altLang="zh-CN" sz="32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010674" y="3993559"/>
            <a:ext cx="46281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</a:t>
            </a:r>
            <a:r>
              <a:rPr lang="en-US" altLang="zh-CN" sz="3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$s0, $t0, $s3</a:t>
            </a:r>
            <a:endParaRPr lang="en-US" altLang="zh-CN" sz="32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33400" y="4787797"/>
          <a:ext cx="436069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66"/>
                <a:gridCol w="1160655"/>
                <a:gridCol w="2030273"/>
              </a:tblGrid>
              <a:tr h="2712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名称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编号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用途</a:t>
                      </a:r>
                      <a:endParaRPr lang="zh-CN" altLang="en-US" sz="1200" dirty="0"/>
                    </a:p>
                  </a:txBody>
                  <a:tcPr/>
                </a:tc>
              </a:tr>
              <a:tr h="296898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$0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常数</a:t>
                      </a:r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/>
                </a:tc>
              </a:tr>
              <a:tr h="271287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$at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汇编器临时变量</a:t>
                      </a:r>
                      <a:endParaRPr lang="zh-CN" altLang="en-US" sz="1200" dirty="0"/>
                    </a:p>
                  </a:txBody>
                  <a:tcPr/>
                </a:tc>
              </a:tr>
              <a:tr h="271287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$v0 ~ $v1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2~3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函数返回值</a:t>
                      </a:r>
                      <a:endParaRPr lang="zh-CN" altLang="en-US" sz="1200" dirty="0"/>
                    </a:p>
                  </a:txBody>
                  <a:tcPr/>
                </a:tc>
              </a:tr>
              <a:tr h="271287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$a0 ~ $a3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4~7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函数参数</a:t>
                      </a:r>
                      <a:endParaRPr lang="zh-CN" altLang="en-US" sz="1200" dirty="0"/>
                    </a:p>
                  </a:txBody>
                  <a:tcPr/>
                </a:tc>
              </a:tr>
              <a:tr h="296898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$t0 ~ $t7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8~15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临时变量</a:t>
                      </a:r>
                      <a:endParaRPr lang="zh-CN" altLang="en-US" sz="1200" b="1" dirty="0"/>
                    </a:p>
                  </a:txBody>
                  <a:tcPr/>
                </a:tc>
              </a:tr>
              <a:tr h="296898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$s0 ~ $s7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16~23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保存变量</a:t>
                      </a:r>
                      <a:endParaRPr lang="zh-CN" altLang="en-US" sz="12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5412426" y="4787795"/>
          <a:ext cx="4628191" cy="2011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523"/>
                <a:gridCol w="1231853"/>
                <a:gridCol w="2154815"/>
              </a:tblGrid>
              <a:tr h="2835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名称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编号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用途</a:t>
                      </a:r>
                      <a:endParaRPr lang="zh-CN" altLang="en-US" sz="1200" dirty="0"/>
                    </a:p>
                  </a:txBody>
                  <a:tcPr/>
                </a:tc>
              </a:tr>
              <a:tr h="310328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$t8</a:t>
                      </a:r>
                      <a:r>
                        <a:rPr lang="en-US" altLang="zh-CN" sz="1400" b="1" baseline="0" dirty="0"/>
                        <a:t> ~ $t9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24~25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临时变量</a:t>
                      </a:r>
                      <a:endParaRPr lang="zh-CN" altLang="en-US" sz="1200" b="1" dirty="0"/>
                    </a:p>
                  </a:txBody>
                  <a:tcPr/>
                </a:tc>
              </a:tr>
              <a:tr h="283558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$k0</a:t>
                      </a:r>
                      <a:r>
                        <a:rPr lang="en-US" altLang="zh-CN" sz="1200" baseline="0" dirty="0"/>
                        <a:t> ~$k1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26~27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操作系统临时变量</a:t>
                      </a:r>
                      <a:endParaRPr lang="zh-CN" altLang="en-US" sz="1200" dirty="0"/>
                    </a:p>
                  </a:txBody>
                  <a:tcPr/>
                </a:tc>
              </a:tr>
              <a:tr h="283558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$</a:t>
                      </a:r>
                      <a:r>
                        <a:rPr lang="en-US" altLang="zh-CN" sz="1200" dirty="0" err="1"/>
                        <a:t>gp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全局指针</a:t>
                      </a:r>
                      <a:endParaRPr lang="zh-CN" altLang="en-US" sz="1200" dirty="0"/>
                    </a:p>
                  </a:txBody>
                  <a:tcPr/>
                </a:tc>
              </a:tr>
              <a:tr h="283558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$</a:t>
                      </a:r>
                      <a:r>
                        <a:rPr lang="en-US" altLang="zh-CN" sz="1200" dirty="0" err="1"/>
                        <a:t>sp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栈指针</a:t>
                      </a:r>
                      <a:endParaRPr lang="zh-CN" altLang="en-US" sz="1200" dirty="0"/>
                    </a:p>
                  </a:txBody>
                  <a:tcPr/>
                </a:tc>
              </a:tr>
              <a:tr h="283558">
                <a:tc>
                  <a:txBody>
                    <a:bodyPr/>
                    <a:lstStyle/>
                    <a:p>
                      <a:r>
                        <a:rPr lang="en-US" altLang="zh-CN" sz="1200" b="0" dirty="0"/>
                        <a:t>$</a:t>
                      </a:r>
                      <a:r>
                        <a:rPr lang="en-US" altLang="zh-CN" sz="1200" b="0" dirty="0" err="1"/>
                        <a:t>fp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帧指针</a:t>
                      </a:r>
                      <a:endParaRPr lang="zh-CN" altLang="en-US" sz="1200" dirty="0"/>
                    </a:p>
                  </a:txBody>
                  <a:tcPr/>
                </a:tc>
              </a:tr>
              <a:tr h="283558">
                <a:tc>
                  <a:txBody>
                    <a:bodyPr/>
                    <a:lstStyle/>
                    <a:p>
                      <a:r>
                        <a:rPr lang="en-US" altLang="zh-CN" sz="1200" b="0" dirty="0"/>
                        <a:t>$</a:t>
                      </a:r>
                      <a:r>
                        <a:rPr lang="en-US" altLang="zh-CN" sz="1200" b="0" dirty="0" err="1"/>
                        <a:t>ra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函数返回地址</a:t>
                      </a:r>
                      <a:endParaRPr lang="zh-CN" altLang="en-US" sz="1200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729430" y="894477"/>
            <a:ext cx="4917020" cy="830997"/>
            <a:chOff x="183066" y="1100315"/>
            <a:chExt cx="4917020" cy="830997"/>
          </a:xfrm>
        </p:grpSpPr>
        <p:sp>
          <p:nvSpPr>
            <p:cNvPr id="16" name="文本框 15"/>
            <p:cNvSpPr txBox="1"/>
            <p:nvPr/>
          </p:nvSpPr>
          <p:spPr>
            <a:xfrm>
              <a:off x="2098564" y="1100315"/>
              <a:ext cx="140500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/>
                <a:t>操 作</a:t>
              </a:r>
              <a:endParaRPr lang="en-US" altLang="zh-CN" sz="2400" b="1" dirty="0"/>
            </a:p>
            <a:p>
              <a:pPr algn="ctr"/>
              <a:r>
                <a:rPr lang="en-US" altLang="zh-CN" sz="2400" dirty="0"/>
                <a:t>operation</a:t>
              </a:r>
              <a:endParaRPr lang="zh-CN" altLang="en-US" sz="2400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83066" y="1100315"/>
              <a:ext cx="153253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/>
                <a:t>指令</a:t>
              </a:r>
              <a:endParaRPr lang="en-US" altLang="zh-CN" sz="2400" b="1" dirty="0"/>
            </a:p>
            <a:p>
              <a:pPr algn="ctr"/>
              <a:r>
                <a:rPr lang="en-US" altLang="zh-CN" sz="2400" dirty="0"/>
                <a:t>instruction</a:t>
              </a:r>
              <a:endParaRPr lang="zh-CN" altLang="en-US" sz="2400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849423" y="1100315"/>
              <a:ext cx="125066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/>
                <a:t>操 作 数</a:t>
              </a:r>
              <a:endParaRPr lang="en-US" altLang="zh-CN" sz="2400" b="1" dirty="0"/>
            </a:p>
            <a:p>
              <a:pPr algn="ctr"/>
              <a:r>
                <a:rPr lang="en-US" altLang="zh-CN" sz="2400" dirty="0"/>
                <a:t>operand</a:t>
              </a:r>
              <a:endParaRPr lang="zh-CN" altLang="en-US" sz="24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695486" y="1161871"/>
              <a:ext cx="4138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b="1" dirty="0"/>
                <a:t>=</a:t>
              </a:r>
              <a:endParaRPr lang="zh-CN" altLang="en-US" sz="2400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406248" y="1161871"/>
              <a:ext cx="4138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b="1" dirty="0"/>
                <a:t>+</a:t>
              </a:r>
              <a:endParaRPr lang="zh-CN" altLang="en-US" sz="2400" dirty="0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1167" y="1096153"/>
            <a:ext cx="1749767" cy="5686744"/>
          </a:xfrm>
          <a:prstGeom prst="rect">
            <a:avLst/>
          </a:prstGeom>
        </p:spPr>
      </p:pic>
      <p:sp>
        <p:nvSpPr>
          <p:cNvPr id="25" name="矩形: 圆角 24"/>
          <p:cNvSpPr/>
          <p:nvPr/>
        </p:nvSpPr>
        <p:spPr>
          <a:xfrm>
            <a:off x="10535672" y="2661847"/>
            <a:ext cx="1372101" cy="3060951"/>
          </a:xfrm>
          <a:prstGeom prst="roundRect">
            <a:avLst>
              <a:gd name="adj" fmla="val 626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7" grpId="0" animBg="1"/>
      <p:bldP spid="22" grpId="0"/>
      <p:bldP spid="23" grpId="0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218"/>
            <a:ext cx="12192000" cy="756000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 dirty="0"/>
              <a:t>操作数：</a:t>
            </a:r>
            <a:r>
              <a:rPr lang="zh-CN" altLang="en-US" sz="4000" dirty="0">
                <a:solidFill>
                  <a:schemeClr val="bg1">
                    <a:lumMod val="50000"/>
                  </a:schemeClr>
                </a:solidFill>
              </a:rPr>
              <a:t>寄存器、</a:t>
            </a:r>
            <a:r>
              <a:rPr lang="zh-CN" altLang="en-US" sz="4000" b="1" dirty="0">
                <a:solidFill>
                  <a:srgbClr val="0070C0"/>
                </a:solidFill>
              </a:rPr>
              <a:t>存储器</a:t>
            </a:r>
            <a:r>
              <a:rPr lang="zh-CN" altLang="en-US" sz="4000" dirty="0">
                <a:solidFill>
                  <a:schemeClr val="bg1">
                    <a:lumMod val="50000"/>
                  </a:schemeClr>
                </a:solidFill>
              </a:rPr>
              <a:t>、常数</a:t>
            </a:r>
            <a:endParaRPr lang="en-US" altLang="zh-CN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15" name="Object 8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</p:nvPr>
        </p:nvGraphicFramePr>
        <p:xfrm>
          <a:off x="968134" y="3838321"/>
          <a:ext cx="4324350" cy="228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VISIO" r:id="rId2" imgW="2164080" imgH="1149350" progId="Visio.Drawing.6">
                  <p:embed/>
                </p:oleObj>
              </mc:Choice>
              <mc:Fallback>
                <p:oleObj name="VISIO" r:id="rId2" imgW="2164080" imgH="1149350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134" y="3838321"/>
                        <a:ext cx="4324350" cy="2289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7"/>
          <p:cNvGraphicFramePr>
            <a:graphicFrameLocks noGrp="1" noChangeAspect="1"/>
          </p:cNvGraphicFramePr>
          <p:nvPr>
            <p:ph idx="4294967295"/>
            <p:custDataLst>
              <p:tags r:id="rId4"/>
            </p:custDataLst>
          </p:nvPr>
        </p:nvGraphicFramePr>
        <p:xfrm>
          <a:off x="6301265" y="3848769"/>
          <a:ext cx="4383087" cy="276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VISIO" r:id="rId5" imgW="2179320" imgH="1377950" progId="Visio.Drawing.6">
                  <p:embed/>
                </p:oleObj>
              </mc:Choice>
              <mc:Fallback>
                <p:oleObj name="VISIO" r:id="rId5" imgW="2179320" imgH="1377950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1265" y="3848769"/>
                        <a:ext cx="4383087" cy="2762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39043" y="809060"/>
            <a:ext cx="10380121" cy="497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dirty="0"/>
              <a:t>32</a:t>
            </a:r>
            <a:r>
              <a:rPr lang="zh-CN" altLang="en-US" sz="2200" dirty="0"/>
              <a:t>位地址，</a:t>
            </a:r>
            <a:r>
              <a:rPr lang="en-US" altLang="zh-CN" sz="2200" dirty="0"/>
              <a:t>4GB</a:t>
            </a:r>
            <a:r>
              <a:rPr lang="zh-CN" altLang="en-US" sz="2200" dirty="0"/>
              <a:t>空间；</a:t>
            </a:r>
            <a:r>
              <a:rPr lang="en-US" altLang="zh-CN" sz="2200" dirty="0"/>
              <a:t>32</a:t>
            </a:r>
            <a:r>
              <a:rPr lang="zh-CN" altLang="en-US" sz="2200" dirty="0"/>
              <a:t>位数据字长。</a:t>
            </a:r>
            <a:r>
              <a:rPr lang="zh-CN" altLang="en-US" sz="2200" b="1" u="sng" dirty="0">
                <a:solidFill>
                  <a:srgbClr val="FF0000"/>
                </a:solidFill>
              </a:rPr>
              <a:t>字节</a:t>
            </a:r>
            <a:r>
              <a:rPr lang="en-US" altLang="zh-CN" sz="2200" dirty="0"/>
              <a:t>(8</a:t>
            </a:r>
            <a:r>
              <a:rPr lang="zh-CN" altLang="en-US" sz="2200" dirty="0"/>
              <a:t>位</a:t>
            </a:r>
            <a:r>
              <a:rPr lang="en-US" altLang="zh-CN" sz="2200" dirty="0"/>
              <a:t>)</a:t>
            </a:r>
            <a:r>
              <a:rPr lang="zh-CN" altLang="en-US" sz="2200" dirty="0"/>
              <a:t>寻址，</a:t>
            </a:r>
            <a:r>
              <a:rPr lang="zh-CN" altLang="en-US" sz="2200" u="sng" dirty="0"/>
              <a:t>每</a:t>
            </a:r>
            <a:r>
              <a:rPr lang="en-US" altLang="zh-CN" sz="2200" u="sng" dirty="0"/>
              <a:t>1</a:t>
            </a:r>
            <a:r>
              <a:rPr lang="zh-CN" altLang="en-US" sz="2200" u="sng" dirty="0"/>
              <a:t>个字节都有</a:t>
            </a:r>
            <a:r>
              <a:rPr lang="en-US" altLang="zh-CN" sz="2200" u="sng" dirty="0"/>
              <a:t>1</a:t>
            </a:r>
            <a:r>
              <a:rPr lang="zh-CN" altLang="en-US" sz="2200" u="sng" dirty="0"/>
              <a:t>个单独地址</a:t>
            </a:r>
            <a:r>
              <a:rPr lang="zh-CN" altLang="en-US" sz="2200" dirty="0"/>
              <a:t>。</a:t>
            </a:r>
            <a:endParaRPr lang="en-US" altLang="zh-CN" sz="220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6597042" y="4783777"/>
            <a:ext cx="1381250" cy="1928494"/>
            <a:chOff x="6597042" y="4783777"/>
            <a:chExt cx="1381250" cy="1928494"/>
          </a:xfrm>
        </p:grpSpPr>
        <p:sp>
          <p:nvSpPr>
            <p:cNvPr id="7" name="圆角矩形 6"/>
            <p:cNvSpPr/>
            <p:nvPr/>
          </p:nvSpPr>
          <p:spPr>
            <a:xfrm>
              <a:off x="7474146" y="4783777"/>
              <a:ext cx="160241" cy="1265164"/>
            </a:xfrm>
            <a:prstGeom prst="roundRect">
              <a:avLst/>
            </a:prstGeom>
            <a:solidFill>
              <a:srgbClr val="FF0000">
                <a:alpha val="20000"/>
              </a:srgbClr>
            </a:solidFill>
            <a:ln w="285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597042" y="6127496"/>
              <a:ext cx="13812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FF0000"/>
                  </a:solidFill>
                </a:rPr>
                <a:t>每个</a:t>
              </a:r>
              <a:r>
                <a:rPr lang="zh-CN" altLang="en-US" sz="1600" b="1" dirty="0">
                  <a:solidFill>
                    <a:srgbClr val="FF0000"/>
                  </a:solidFill>
                </a:rPr>
                <a:t>字</a:t>
              </a:r>
              <a:r>
                <a:rPr lang="zh-CN" altLang="en-US" sz="1600" dirty="0">
                  <a:solidFill>
                    <a:srgbClr val="FF0000"/>
                  </a:solidFill>
                </a:rPr>
                <a:t>地址都是</a:t>
              </a:r>
              <a:r>
                <a:rPr lang="en-US" altLang="zh-CN" sz="1600" dirty="0">
                  <a:solidFill>
                    <a:srgbClr val="FF0000"/>
                  </a:solidFill>
                </a:rPr>
                <a:t>4</a:t>
              </a:r>
              <a:r>
                <a:rPr lang="zh-CN" altLang="en-US" sz="1600" dirty="0">
                  <a:solidFill>
                    <a:srgbClr val="FF0000"/>
                  </a:solidFill>
                </a:rPr>
                <a:t>的倍数</a:t>
              </a:r>
              <a:endParaRPr lang="zh-CN" altLang="en-US" sz="16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1319064" y="5404061"/>
            <a:ext cx="3896728" cy="3241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8645270" y="6356350"/>
            <a:ext cx="2743200" cy="365125"/>
          </a:xfrm>
        </p:spPr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927408" y="1664535"/>
            <a:ext cx="4469621" cy="5056940"/>
            <a:chOff x="927408" y="1664535"/>
            <a:chExt cx="4469621" cy="5056940"/>
          </a:xfrm>
        </p:grpSpPr>
        <p:sp>
          <p:nvSpPr>
            <p:cNvPr id="17" name="矩形 16"/>
            <p:cNvSpPr/>
            <p:nvPr/>
          </p:nvSpPr>
          <p:spPr>
            <a:xfrm>
              <a:off x="1771747" y="2417085"/>
              <a:ext cx="2672526" cy="5232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800" b="1" dirty="0" err="1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lw</a:t>
              </a:r>
              <a:r>
                <a:rPr lang="en-US" altLang="zh-CN" sz="2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24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$s3, </a:t>
              </a:r>
              <a:r>
                <a:rPr lang="en-US" altLang="zh-CN" sz="24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r>
                <a:rPr lang="en-US" altLang="zh-CN" sz="24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($0)</a:t>
              </a:r>
              <a:endParaRPr lang="en-US" altLang="zh-CN" sz="2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771747" y="3040845"/>
              <a:ext cx="2672526" cy="5232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800" b="1" dirty="0" err="1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sw</a:t>
              </a:r>
              <a:r>
                <a:rPr lang="en-US" altLang="zh-CN" sz="2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24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$s7, </a:t>
              </a:r>
              <a:r>
                <a:rPr lang="en-US" altLang="zh-CN" sz="24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r>
                <a:rPr lang="en-US" altLang="zh-CN" sz="24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($0)</a:t>
              </a:r>
              <a:endParaRPr lang="en-US" altLang="zh-CN" sz="2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018395" y="1664535"/>
              <a:ext cx="2287646" cy="461665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C000"/>
                  </a:solidFill>
                </a:rPr>
                <a:t>字 </a:t>
              </a:r>
              <a:r>
                <a:rPr lang="zh-CN" altLang="en-US" sz="2400" dirty="0"/>
                <a:t>寻址</a:t>
              </a:r>
              <a:endParaRPr lang="zh-CN" altLang="en-US" sz="2400" dirty="0"/>
            </a:p>
          </p:txBody>
        </p:sp>
        <p:sp>
          <p:nvSpPr>
            <p:cNvPr id="9" name="矩形: 圆角 2"/>
            <p:cNvSpPr/>
            <p:nvPr/>
          </p:nvSpPr>
          <p:spPr>
            <a:xfrm>
              <a:off x="927408" y="2223162"/>
              <a:ext cx="4469621" cy="4498313"/>
            </a:xfrm>
            <a:prstGeom prst="roundRect">
              <a:avLst>
                <a:gd name="adj" fmla="val 4047"/>
              </a:avLst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237726" y="1655919"/>
            <a:ext cx="4600731" cy="5065556"/>
            <a:chOff x="6237726" y="1655919"/>
            <a:chExt cx="4600731" cy="5065556"/>
          </a:xfrm>
        </p:grpSpPr>
        <p:sp>
          <p:nvSpPr>
            <p:cNvPr id="25" name="文本框 24"/>
            <p:cNvSpPr txBox="1"/>
            <p:nvPr/>
          </p:nvSpPr>
          <p:spPr>
            <a:xfrm>
              <a:off x="7617051" y="1655919"/>
              <a:ext cx="1842080" cy="461665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C000"/>
                  </a:solidFill>
                </a:rPr>
                <a:t>字节 </a:t>
              </a:r>
              <a:r>
                <a:rPr lang="zh-CN" altLang="en-US" sz="2400" dirty="0"/>
                <a:t>寻址</a:t>
              </a:r>
              <a:endParaRPr lang="zh-CN" altLang="en-US" sz="2400" dirty="0"/>
            </a:p>
          </p:txBody>
        </p:sp>
        <p:sp>
          <p:nvSpPr>
            <p:cNvPr id="27" name="矩形 26"/>
            <p:cNvSpPr/>
            <p:nvPr/>
          </p:nvSpPr>
          <p:spPr>
            <a:xfrm>
              <a:off x="6959254" y="2354447"/>
              <a:ext cx="30774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 err="1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lw</a:t>
              </a:r>
              <a:r>
                <a:rPr lang="en-US" altLang="zh-CN" sz="2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24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$s3, </a:t>
              </a:r>
              <a:r>
                <a:rPr lang="en-US" altLang="zh-CN" sz="24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r>
                <a:rPr lang="en-US" altLang="zh-CN" sz="24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($0)</a:t>
              </a:r>
              <a:endParaRPr lang="en-US" altLang="zh-CN" sz="2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901293" y="3040845"/>
              <a:ext cx="322556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dirty="0" err="1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sw</a:t>
              </a:r>
              <a:r>
                <a:rPr lang="en-US" altLang="zh-CN" sz="2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24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$s7, </a:t>
              </a:r>
              <a:r>
                <a:rPr lang="en-US" altLang="zh-CN" sz="24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0x10</a:t>
              </a:r>
              <a:r>
                <a:rPr lang="en-US" altLang="zh-CN" sz="24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($0)</a:t>
              </a:r>
              <a:endParaRPr lang="en-US" altLang="zh-CN" sz="2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" name="矩形: 圆角 19"/>
            <p:cNvSpPr/>
            <p:nvPr/>
          </p:nvSpPr>
          <p:spPr>
            <a:xfrm>
              <a:off x="6237726" y="2223162"/>
              <a:ext cx="4600731" cy="4498313"/>
            </a:xfrm>
            <a:prstGeom prst="roundRect">
              <a:avLst>
                <a:gd name="adj" fmla="val 4047"/>
              </a:avLst>
            </a:prstGeom>
            <a:noFill/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7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56000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 dirty="0"/>
              <a:t>操作数：</a:t>
            </a:r>
            <a:r>
              <a:rPr lang="zh-CN" altLang="en-US" sz="4000" dirty="0">
                <a:solidFill>
                  <a:schemeClr val="bg1">
                    <a:lumMod val="50000"/>
                  </a:schemeClr>
                </a:solidFill>
              </a:rPr>
              <a:t>寄存器、存储器、</a:t>
            </a:r>
            <a:r>
              <a:rPr lang="zh-CN" altLang="en-US" sz="4000" b="1" dirty="0">
                <a:solidFill>
                  <a:srgbClr val="0070C0"/>
                </a:solidFill>
              </a:rPr>
              <a:t>常数</a:t>
            </a:r>
            <a:endParaRPr lang="en-US" altLang="zh-CN" sz="4000" b="1" dirty="0">
              <a:solidFill>
                <a:srgbClr val="0070C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43753" y="893877"/>
            <a:ext cx="7966276" cy="527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dirty="0"/>
              <a:t>因常数的值可以立即访问，故又称为</a:t>
            </a:r>
            <a:r>
              <a:rPr lang="zh-CN" altLang="en-US" sz="2400" b="1" dirty="0">
                <a:solidFill>
                  <a:srgbClr val="FF0000"/>
                </a:solidFill>
              </a:rPr>
              <a:t>立即数</a:t>
            </a:r>
            <a:r>
              <a:rPr lang="en-US" altLang="zh-CN" sz="2400" dirty="0"/>
              <a:t>(immediate)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26" name="矩形 25"/>
          <p:cNvSpPr/>
          <p:nvPr/>
        </p:nvSpPr>
        <p:spPr>
          <a:xfrm>
            <a:off x="2705140" y="1988089"/>
            <a:ext cx="6931706" cy="2492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$s0=a, $s1=b</a:t>
            </a:r>
            <a:endParaRPr lang="en-US" altLang="zh-CN" sz="3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$s0,</a:t>
            </a:r>
            <a:r>
              <a:rPr lang="en-US" altLang="zh-CN" sz="2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$s1, </a:t>
            </a:r>
            <a:r>
              <a:rPr lang="en-US" altLang="zh-CN" sz="36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</a:t>
            </a:r>
            <a:r>
              <a:rPr lang="en-US" altLang="zh-CN" sz="3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# a=b+4</a:t>
            </a:r>
            <a:endParaRPr lang="en-US" altLang="zh-CN" sz="3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$s1,</a:t>
            </a:r>
            <a:r>
              <a:rPr lang="en-US" altLang="zh-CN" sz="2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$s0,</a:t>
            </a:r>
            <a:r>
              <a:rPr lang="en-US" altLang="zh-CN" sz="36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-2 </a:t>
            </a:r>
            <a:r>
              <a:rPr lang="en-US" altLang="zh-CN" sz="3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# b=a-2</a:t>
            </a:r>
            <a:endParaRPr lang="en-US" altLang="zh-CN" sz="3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705140" y="4892814"/>
            <a:ext cx="6980508" cy="1143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立即数采用</a:t>
            </a:r>
            <a:r>
              <a:rPr lang="en-US" altLang="zh-CN" sz="2400" b="1" dirty="0">
                <a:solidFill>
                  <a:srgbClr val="FF0000"/>
                </a:solidFill>
              </a:rPr>
              <a:t>16</a:t>
            </a:r>
            <a:r>
              <a:rPr lang="zh-CN" altLang="en-US" sz="2400" b="1" dirty="0">
                <a:solidFill>
                  <a:srgbClr val="FF0000"/>
                </a:solidFill>
              </a:rPr>
              <a:t>位补码</a:t>
            </a:r>
            <a:r>
              <a:rPr lang="zh-CN" altLang="en-US" sz="2400" dirty="0"/>
              <a:t>表示，</a:t>
            </a:r>
            <a:r>
              <a:rPr lang="en-US" altLang="zh-CN" sz="2400" dirty="0"/>
              <a:t>[-32768, 32767]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减法相当于加上一个负数，故没有 </a:t>
            </a:r>
            <a:r>
              <a:rPr lang="en-US" altLang="zh-CN" sz="2400" dirty="0" err="1"/>
              <a:t>subi</a:t>
            </a:r>
            <a:r>
              <a:rPr lang="en-US" altLang="zh-CN" sz="2400" dirty="0"/>
              <a:t> </a:t>
            </a:r>
            <a:r>
              <a:rPr lang="zh-CN" altLang="en-US" sz="2400" dirty="0"/>
              <a:t>指令</a:t>
            </a:r>
            <a:endParaRPr lang="en-US" altLang="zh-CN" sz="24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11257"/>
            <a:ext cx="12192000" cy="792000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4000" b="1" dirty="0"/>
              <a:t>MIPS</a:t>
            </a:r>
            <a:r>
              <a:rPr lang="zh-CN" altLang="en-US" sz="4000" b="1" dirty="0"/>
              <a:t>指令集</a:t>
            </a:r>
            <a:r>
              <a:rPr lang="en-US" altLang="zh-CN" sz="4000" b="1" dirty="0"/>
              <a:t>3</a:t>
            </a:r>
            <a:r>
              <a:rPr lang="zh-CN" altLang="en-US" sz="4000" b="1" dirty="0"/>
              <a:t>种指令格式</a:t>
            </a:r>
            <a:endParaRPr lang="en-US" altLang="zh-CN" sz="4000" b="1" dirty="0">
              <a:solidFill>
                <a:srgbClr val="FF000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107291" y="3469517"/>
            <a:ext cx="2800767" cy="876610"/>
            <a:chOff x="3107291" y="3469517"/>
            <a:chExt cx="2800767" cy="876610"/>
          </a:xfrm>
        </p:grpSpPr>
        <p:sp>
          <p:nvSpPr>
            <p:cNvPr id="31" name="矩形 30"/>
            <p:cNvSpPr/>
            <p:nvPr/>
          </p:nvSpPr>
          <p:spPr>
            <a:xfrm>
              <a:off x="3107291" y="3946017"/>
              <a:ext cx="249299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2000" b="1" dirty="0" err="1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lw</a:t>
              </a:r>
              <a:r>
                <a:rPr lang="en-US" altLang="zh-CN" sz="2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$s0, </a:t>
              </a:r>
              <a:r>
                <a:rPr lang="en-US" altLang="zh-CN" sz="2000" b="1" dirty="0">
                  <a:solidFill>
                    <a:srgbClr val="00B0F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r>
                <a:rPr lang="en-US" altLang="zh-CN" sz="2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($0)</a:t>
              </a:r>
              <a:endPara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3107291" y="3469517"/>
              <a:ext cx="28007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 err="1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addi</a:t>
              </a:r>
              <a:r>
                <a:rPr lang="en-US" altLang="zh-CN" sz="2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$s0, $s1, </a:t>
              </a:r>
              <a:r>
                <a:rPr lang="en-US" altLang="zh-CN" sz="2000" b="1" dirty="0">
                  <a:solidFill>
                    <a:srgbClr val="00B0F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-4</a:t>
              </a:r>
              <a:endParaRPr lang="en-US" altLang="zh-CN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435436" y="1715450"/>
            <a:ext cx="1974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① </a:t>
            </a:r>
            <a:r>
              <a:rPr lang="en-US" altLang="zh-CN" sz="2800" b="1" dirty="0">
                <a:solidFill>
                  <a:srgbClr val="FF0000"/>
                </a:solidFill>
              </a:rPr>
              <a:t>R</a:t>
            </a:r>
            <a:r>
              <a:rPr lang="en-US" altLang="zh-CN" sz="2400" dirty="0">
                <a:solidFill>
                  <a:srgbClr val="FF0000"/>
                </a:solidFill>
              </a:rPr>
              <a:t>egister</a:t>
            </a:r>
            <a:r>
              <a:rPr lang="zh-CN" altLang="en-US" sz="20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型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35436" y="3407962"/>
            <a:ext cx="22399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② </a:t>
            </a:r>
            <a:r>
              <a:rPr lang="en-US" altLang="zh-CN" sz="2800" b="1" dirty="0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mmediate</a:t>
            </a:r>
            <a:r>
              <a:rPr lang="zh-CN" altLang="en-US" sz="2400" dirty="0">
                <a:solidFill>
                  <a:srgbClr val="FF0000"/>
                </a:solidFill>
              </a:rPr>
              <a:t>型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35436" y="5073053"/>
            <a:ext cx="16257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③ </a:t>
            </a:r>
            <a:r>
              <a:rPr lang="en-US" altLang="zh-CN" sz="2800" b="1" dirty="0">
                <a:solidFill>
                  <a:srgbClr val="FF0000"/>
                </a:solidFill>
              </a:rPr>
              <a:t>J</a:t>
            </a:r>
            <a:r>
              <a:rPr lang="en-US" altLang="zh-CN" sz="2400" dirty="0">
                <a:solidFill>
                  <a:srgbClr val="FF0000"/>
                </a:solidFill>
              </a:rPr>
              <a:t>ump </a:t>
            </a:r>
            <a:r>
              <a:rPr lang="zh-CN" altLang="en-US" sz="2400" dirty="0">
                <a:solidFill>
                  <a:srgbClr val="FF0000"/>
                </a:solidFill>
              </a:rPr>
              <a:t>型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68530" y="2249033"/>
            <a:ext cx="117371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</a:rPr>
              <a:t>寄存器</a:t>
            </a:r>
            <a:endParaRPr lang="zh-CN" altLang="en-US" sz="2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35436" y="3947250"/>
            <a:ext cx="24978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寄存器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+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</a:rPr>
              <a:t>16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</a:rPr>
              <a:t>位立即数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62069" y="5548591"/>
            <a:ext cx="14702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26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位立即数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9842" y="3570621"/>
            <a:ext cx="5482368" cy="710093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3107291" y="5090449"/>
            <a:ext cx="8804919" cy="919786"/>
            <a:chOff x="3107291" y="5038444"/>
            <a:chExt cx="8804919" cy="919786"/>
          </a:xfrm>
        </p:grpSpPr>
        <p:sp>
          <p:nvSpPr>
            <p:cNvPr id="43" name="矩形 42"/>
            <p:cNvSpPr/>
            <p:nvPr/>
          </p:nvSpPr>
          <p:spPr>
            <a:xfrm>
              <a:off x="3107291" y="5038444"/>
              <a:ext cx="17235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j</a:t>
              </a:r>
              <a:r>
                <a:rPr lang="en-US" altLang="zh-CN" sz="2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label</a:t>
              </a:r>
              <a:endPara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29842" y="5171826"/>
              <a:ext cx="5482368" cy="726871"/>
            </a:xfrm>
            <a:prstGeom prst="rect">
              <a:avLst/>
            </a:prstGeom>
          </p:spPr>
        </p:pic>
        <p:sp>
          <p:nvSpPr>
            <p:cNvPr id="28" name="矩形 27"/>
            <p:cNvSpPr/>
            <p:nvPr/>
          </p:nvSpPr>
          <p:spPr>
            <a:xfrm>
              <a:off x="3107291" y="5558120"/>
              <a:ext cx="17235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2000" b="1" dirty="0" err="1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jal</a:t>
              </a:r>
              <a:r>
                <a:rPr lang="en-US" altLang="zh-CN" sz="2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label</a:t>
              </a:r>
              <a:endPara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433529" y="1391678"/>
            <a:ext cx="5478681" cy="1177431"/>
            <a:chOff x="6433529" y="1391678"/>
            <a:chExt cx="5478681" cy="1177431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33529" y="1854498"/>
              <a:ext cx="5478681" cy="714611"/>
            </a:xfrm>
            <a:prstGeom prst="rect">
              <a:avLst/>
            </a:prstGeom>
          </p:spPr>
        </p:pic>
        <p:cxnSp>
          <p:nvCxnSpPr>
            <p:cNvPr id="23" name="直接连接符 22"/>
            <p:cNvCxnSpPr/>
            <p:nvPr/>
          </p:nvCxnSpPr>
          <p:spPr>
            <a:xfrm>
              <a:off x="6452142" y="1391678"/>
              <a:ext cx="0" cy="3855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11853794" y="1391678"/>
              <a:ext cx="0" cy="3855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/>
            <p:nvPr/>
          </p:nvCxnSpPr>
          <p:spPr>
            <a:xfrm>
              <a:off x="6452142" y="1584446"/>
              <a:ext cx="540165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/>
          </p:nvSpPr>
          <p:spPr>
            <a:xfrm>
              <a:off x="8776526" y="1405930"/>
              <a:ext cx="788999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32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bits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206506" y="1558359"/>
            <a:ext cx="2800767" cy="1306888"/>
            <a:chOff x="3019130" y="1792236"/>
            <a:chExt cx="2800767" cy="1306888"/>
          </a:xfrm>
        </p:grpSpPr>
        <p:sp>
          <p:nvSpPr>
            <p:cNvPr id="26" name="矩形 25"/>
            <p:cNvSpPr/>
            <p:nvPr/>
          </p:nvSpPr>
          <p:spPr>
            <a:xfrm>
              <a:off x="3019130" y="1792236"/>
              <a:ext cx="28007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add</a:t>
              </a:r>
              <a:r>
                <a:rPr lang="en-US" altLang="zh-CN" sz="2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$s0, $s1, $s2</a:t>
              </a:r>
              <a:endPara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019130" y="2268736"/>
              <a:ext cx="264687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 err="1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sll</a:t>
              </a:r>
              <a:r>
                <a:rPr lang="en-US" altLang="zh-CN" sz="2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$s0, $s1,  </a:t>
              </a:r>
              <a:r>
                <a:rPr lang="en-US" altLang="zh-CN" sz="2000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3019130" y="2699014"/>
              <a:ext cx="12618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2000" b="1" dirty="0" err="1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jr</a:t>
              </a:r>
              <a:r>
                <a:rPr lang="en-US" altLang="zh-CN" sz="2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$s0</a:t>
              </a:r>
              <a:endPara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53" name="灯片编号占位符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  <p:custDataLst>
      <p:tags r:id="rId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2850252" y="921391"/>
            <a:ext cx="6742056" cy="1727704"/>
          </a:xfrm>
          <a:prstGeom prst="roundRect">
            <a:avLst>
              <a:gd name="adj" fmla="val 10840"/>
            </a:avLst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975"/>
            <a:ext cx="12192000" cy="836353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①</a:t>
            </a:r>
            <a:r>
              <a:rPr lang="en-US" altLang="zh-CN" b="1" dirty="0"/>
              <a:t> R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egister</a:t>
            </a:r>
            <a:r>
              <a:rPr lang="en-US" altLang="zh-CN" b="1" dirty="0"/>
              <a:t> </a:t>
            </a:r>
            <a:r>
              <a:rPr lang="zh-CN" altLang="en-US" b="1" dirty="0"/>
              <a:t>型</a:t>
            </a:r>
            <a:endParaRPr lang="zh-CN" altLang="en-US" b="1" dirty="0"/>
          </a:p>
        </p:txBody>
      </p:sp>
      <p:grpSp>
        <p:nvGrpSpPr>
          <p:cNvPr id="4" name="组合 3"/>
          <p:cNvGrpSpPr/>
          <p:nvPr/>
        </p:nvGrpSpPr>
        <p:grpSpPr>
          <a:xfrm>
            <a:off x="1894461" y="2888009"/>
            <a:ext cx="6910775" cy="646331"/>
            <a:chOff x="1894461" y="2888009"/>
            <a:chExt cx="6910775" cy="646331"/>
          </a:xfrm>
        </p:grpSpPr>
        <p:sp>
          <p:nvSpPr>
            <p:cNvPr id="26" name="矩形 25"/>
            <p:cNvSpPr/>
            <p:nvPr/>
          </p:nvSpPr>
          <p:spPr>
            <a:xfrm>
              <a:off x="3906138" y="2888009"/>
              <a:ext cx="4899098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add</a:t>
              </a:r>
              <a:r>
                <a:rPr lang="en-US" altLang="zh-CN" sz="36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$s0, $s1, $s2</a:t>
              </a:r>
              <a:endParaRPr lang="en-US" altLang="zh-CN" sz="3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894461" y="2982449"/>
              <a:ext cx="14975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/>
                <a:t>汇编代码</a:t>
              </a:r>
              <a:r>
                <a:rPr lang="en-US" altLang="zh-CN" sz="2400" dirty="0"/>
                <a:t>:</a:t>
              </a:r>
              <a:endParaRPr lang="zh-CN" altLang="en-US" sz="2400" dirty="0"/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2202238" y="4039446"/>
            <a:ext cx="1189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字段值</a:t>
            </a:r>
            <a:r>
              <a:rPr lang="en-US" altLang="zh-CN" sz="2400" dirty="0"/>
              <a:t>:</a:t>
            </a:r>
            <a:endParaRPr lang="zh-CN" altLang="en-US" sz="2400" dirty="0"/>
          </a:p>
        </p:txBody>
      </p:sp>
      <p:sp>
        <p:nvSpPr>
          <p:cNvPr id="51" name="文本框 50"/>
          <p:cNvSpPr txBox="1"/>
          <p:nvPr/>
        </p:nvSpPr>
        <p:spPr>
          <a:xfrm>
            <a:off x="1894461" y="5084677"/>
            <a:ext cx="149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机器代码</a:t>
            </a:r>
            <a:r>
              <a:rPr lang="en-US" altLang="zh-CN" sz="2400" dirty="0"/>
              <a:t>:</a:t>
            </a:r>
            <a:endParaRPr lang="zh-CN" altLang="en-US" sz="2400" dirty="0"/>
          </a:p>
        </p:txBody>
      </p:sp>
      <p:graphicFrame>
        <p:nvGraphicFramePr>
          <p:cNvPr id="52" name="表格 51"/>
          <p:cNvGraphicFramePr>
            <a:graphicFrameLocks noGrp="1"/>
          </p:cNvGraphicFramePr>
          <p:nvPr/>
        </p:nvGraphicFramePr>
        <p:xfrm>
          <a:off x="3801705" y="5089141"/>
          <a:ext cx="661447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824"/>
                <a:gridCol w="995002"/>
                <a:gridCol w="1102413"/>
                <a:gridCol w="1102413"/>
                <a:gridCol w="992344"/>
                <a:gridCol w="121248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000000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10001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10010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10000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00000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100000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3801705" y="4043910"/>
          <a:ext cx="661447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824"/>
                <a:gridCol w="995002"/>
                <a:gridCol w="1102413"/>
                <a:gridCol w="1102413"/>
                <a:gridCol w="992344"/>
                <a:gridCol w="121248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4148053" y="4491114"/>
            <a:ext cx="6061400" cy="461665"/>
            <a:chOff x="4148053" y="4491114"/>
            <a:chExt cx="6061400" cy="461665"/>
          </a:xfrm>
        </p:grpSpPr>
        <p:sp>
          <p:nvSpPr>
            <p:cNvPr id="8" name="文本框 7"/>
            <p:cNvSpPr txBox="1"/>
            <p:nvPr/>
          </p:nvSpPr>
          <p:spPr>
            <a:xfrm>
              <a:off x="4148053" y="4491114"/>
              <a:ext cx="5084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>
                      <a:lumMod val="50000"/>
                    </a:schemeClr>
                  </a:solidFill>
                </a:rPr>
                <a:t>op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5296651" y="4491114"/>
              <a:ext cx="407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err="1">
                  <a:solidFill>
                    <a:schemeClr val="bg1">
                      <a:lumMod val="50000"/>
                    </a:schemeClr>
                  </a:solidFill>
                </a:rPr>
                <a:t>rs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355687" y="4491114"/>
              <a:ext cx="394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err="1">
                  <a:solidFill>
                    <a:schemeClr val="bg1">
                      <a:lumMod val="50000"/>
                    </a:schemeClr>
                  </a:solidFill>
                </a:rPr>
                <a:t>rt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7468899" y="4491114"/>
              <a:ext cx="4497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err="1">
                  <a:solidFill>
                    <a:schemeClr val="bg1">
                      <a:lumMod val="50000"/>
                    </a:schemeClr>
                  </a:solidFill>
                </a:rPr>
                <a:t>rd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8247737" y="4491114"/>
              <a:ext cx="9592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err="1">
                  <a:solidFill>
                    <a:schemeClr val="bg1">
                      <a:lumMod val="50000"/>
                    </a:schemeClr>
                  </a:solidFill>
                </a:rPr>
                <a:t>shamt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9373968" y="4491114"/>
              <a:ext cx="8354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err="1">
                  <a:solidFill>
                    <a:schemeClr val="bg1">
                      <a:lumMod val="50000"/>
                    </a:schemeClr>
                  </a:solidFill>
                </a:rPr>
                <a:t>funct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102537" y="5546232"/>
            <a:ext cx="5909449" cy="400110"/>
            <a:chOff x="4102537" y="5546232"/>
            <a:chExt cx="5909449" cy="400110"/>
          </a:xfrm>
        </p:grpSpPr>
        <p:sp>
          <p:nvSpPr>
            <p:cNvPr id="59" name="文本框 58"/>
            <p:cNvSpPr txBox="1"/>
            <p:nvPr/>
          </p:nvSpPr>
          <p:spPr>
            <a:xfrm>
              <a:off x="4102537" y="5546232"/>
              <a:ext cx="570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</a:rPr>
                <a:t>6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</a:rPr>
                <a:t>位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5203450" y="5546232"/>
              <a:ext cx="570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</a:rPr>
                <a:t>5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</a:rPr>
                <a:t>位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6267968" y="5546232"/>
              <a:ext cx="570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</a:rPr>
                <a:t>5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</a:rPr>
                <a:t>位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7367111" y="5546232"/>
              <a:ext cx="570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</a:rPr>
                <a:t>5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</a:rPr>
                <a:t>位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8292439" y="5546232"/>
              <a:ext cx="570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</a:rPr>
                <a:t>5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</a:rPr>
                <a:t>位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9440996" y="5546232"/>
              <a:ext cx="570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</a:rPr>
                <a:t>6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</a:rPr>
                <a:t>位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10355" y="1860671"/>
            <a:ext cx="6381953" cy="717562"/>
            <a:chOff x="977136" y="2350450"/>
            <a:chExt cx="6381953" cy="717562"/>
          </a:xfrm>
        </p:grpSpPr>
        <p:sp>
          <p:nvSpPr>
            <p:cNvPr id="28" name="文本框 27"/>
            <p:cNvSpPr txBox="1"/>
            <p:nvPr/>
          </p:nvSpPr>
          <p:spPr>
            <a:xfrm>
              <a:off x="2257898" y="2610489"/>
              <a:ext cx="14558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2</a:t>
              </a:r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个</a:t>
              </a:r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</a:rPr>
                <a:t>源</a:t>
              </a:r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寄存器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" name="右大括号 4"/>
            <p:cNvSpPr/>
            <p:nvPr/>
          </p:nvSpPr>
          <p:spPr>
            <a:xfrm rot="5400000">
              <a:off x="2873022" y="1713613"/>
              <a:ext cx="231569" cy="1505243"/>
            </a:xfrm>
            <a:prstGeom prst="rightBrac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3903782" y="2415647"/>
              <a:ext cx="9941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个</a:t>
              </a:r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</a:rPr>
                <a:t>目的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寄存器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4960049" y="2421681"/>
              <a:ext cx="6463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移位</a:t>
              </a:r>
              <a:endParaRPr lang="en-US" altLang="zh-C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操作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5735759" y="2395002"/>
              <a:ext cx="1623330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函数：</a:t>
              </a:r>
              <a:endParaRPr lang="en-US" altLang="zh-CN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</a:rPr>
                <a:t>决定何种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</a:rPr>
                <a:t>R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</a:rPr>
                <a:t>操作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977136" y="2494834"/>
              <a:ext cx="11095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操作码</a:t>
              </a:r>
              <a:r>
                <a:rPr lang="en-US" altLang="zh-CN" dirty="0"/>
                <a:t>=</a:t>
              </a: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894461" y="6152337"/>
            <a:ext cx="4641145" cy="523220"/>
            <a:chOff x="1894461" y="6152337"/>
            <a:chExt cx="4641145" cy="523220"/>
          </a:xfrm>
        </p:grpSpPr>
        <p:sp>
          <p:nvSpPr>
            <p:cNvPr id="65" name="文本框 64"/>
            <p:cNvSpPr txBox="1"/>
            <p:nvPr/>
          </p:nvSpPr>
          <p:spPr>
            <a:xfrm>
              <a:off x="3781326" y="6152337"/>
              <a:ext cx="27542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b="1" spc="600" dirty="0">
                  <a:solidFill>
                    <a:schemeClr val="bg1">
                      <a:lumMod val="50000"/>
                    </a:schemeClr>
                  </a:solidFill>
                </a:rPr>
                <a:t>0x</a:t>
              </a:r>
              <a:r>
                <a:rPr lang="en-US" altLang="zh-CN" sz="2800" b="1" spc="600" dirty="0">
                  <a:solidFill>
                    <a:srgbClr val="FF0000"/>
                  </a:solidFill>
                </a:rPr>
                <a:t>02328020</a:t>
              </a:r>
              <a:endParaRPr lang="zh-CN" altLang="en-US" sz="2800" b="1" spc="600" dirty="0">
                <a:solidFill>
                  <a:srgbClr val="FF0000"/>
                </a:solidFill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894461" y="6180474"/>
              <a:ext cx="14975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/>
                <a:t>机器指令</a:t>
              </a:r>
              <a:r>
                <a:rPr lang="en-US" altLang="zh-CN" sz="2400" dirty="0"/>
                <a:t>:</a:t>
              </a:r>
              <a:endParaRPr lang="zh-CN" altLang="en-US" sz="24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308080" y="3235261"/>
            <a:ext cx="3125034" cy="495071"/>
            <a:chOff x="5308080" y="3235261"/>
            <a:chExt cx="3125034" cy="495071"/>
          </a:xfrm>
        </p:grpSpPr>
        <p:sp>
          <p:nvSpPr>
            <p:cNvPr id="69" name="文本框 68"/>
            <p:cNvSpPr txBox="1"/>
            <p:nvPr/>
          </p:nvSpPr>
          <p:spPr>
            <a:xfrm>
              <a:off x="5308080" y="3268667"/>
              <a:ext cx="4497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err="1">
                  <a:solidFill>
                    <a:schemeClr val="bg1">
                      <a:lumMod val="50000"/>
                    </a:schemeClr>
                  </a:solidFill>
                </a:rPr>
                <a:t>rd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6701910" y="3235261"/>
              <a:ext cx="407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err="1">
                  <a:solidFill>
                    <a:schemeClr val="bg1">
                      <a:lumMod val="50000"/>
                    </a:schemeClr>
                  </a:solidFill>
                </a:rPr>
                <a:t>rs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8038454" y="3235261"/>
              <a:ext cx="394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err="1">
                  <a:solidFill>
                    <a:schemeClr val="bg1">
                      <a:lumMod val="50000"/>
                    </a:schemeClr>
                  </a:solidFill>
                </a:rPr>
                <a:t>rt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1" name="直接箭头连接符 10"/>
          <p:cNvCxnSpPr>
            <a:stCxn id="70" idx="2"/>
            <a:endCxn id="54" idx="3"/>
          </p:cNvCxnSpPr>
          <p:nvPr/>
        </p:nvCxnSpPr>
        <p:spPr>
          <a:xfrm flipH="1">
            <a:off x="5703686" y="3696926"/>
            <a:ext cx="1201742" cy="102502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lgDashDot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71" idx="2"/>
            <a:endCxn id="55" idx="3"/>
          </p:cNvCxnSpPr>
          <p:nvPr/>
        </p:nvCxnSpPr>
        <p:spPr>
          <a:xfrm flipH="1">
            <a:off x="6750348" y="3696926"/>
            <a:ext cx="1485437" cy="102502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lgDashDot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69" idx="2"/>
            <a:endCxn id="56" idx="1"/>
          </p:cNvCxnSpPr>
          <p:nvPr/>
        </p:nvCxnSpPr>
        <p:spPr>
          <a:xfrm>
            <a:off x="5532950" y="3730332"/>
            <a:ext cx="1935949" cy="991615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9423" y="1042673"/>
            <a:ext cx="6099048" cy="795528"/>
          </a:xfrm>
          <a:prstGeom prst="rect">
            <a:avLst/>
          </a:prstGeom>
        </p:spPr>
      </p:pic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圆角矩形 26"/>
          <p:cNvSpPr/>
          <p:nvPr/>
        </p:nvSpPr>
        <p:spPr>
          <a:xfrm>
            <a:off x="2186537" y="908010"/>
            <a:ext cx="7816429" cy="1777769"/>
          </a:xfrm>
          <a:prstGeom prst="roundRect">
            <a:avLst>
              <a:gd name="adj" fmla="val 13337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0794" y="386"/>
            <a:ext cx="12212794" cy="836353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②</a:t>
            </a:r>
            <a:r>
              <a:rPr lang="en-US" altLang="zh-CN" b="1" dirty="0"/>
              <a:t> I</a:t>
            </a:r>
            <a:r>
              <a:rPr lang="en-US" altLang="zh-CN" dirty="0"/>
              <a:t>mmediate</a:t>
            </a:r>
            <a:r>
              <a:rPr lang="en-US" altLang="zh-CN" b="1" dirty="0"/>
              <a:t> </a:t>
            </a:r>
            <a:r>
              <a:rPr lang="zh-CN" altLang="en-US" b="1" dirty="0"/>
              <a:t>型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29717" y="3979421"/>
            <a:ext cx="1189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字段值</a:t>
            </a:r>
            <a:r>
              <a:rPr lang="en-US" altLang="zh-CN" sz="2400" dirty="0"/>
              <a:t>:</a:t>
            </a:r>
            <a:endParaRPr lang="zh-CN" altLang="en-US" sz="2400" dirty="0"/>
          </a:p>
        </p:txBody>
      </p:sp>
      <p:sp>
        <p:nvSpPr>
          <p:cNvPr id="51" name="文本框 50"/>
          <p:cNvSpPr txBox="1"/>
          <p:nvPr/>
        </p:nvSpPr>
        <p:spPr>
          <a:xfrm>
            <a:off x="2121940" y="5189686"/>
            <a:ext cx="149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机器代码</a:t>
            </a:r>
            <a:r>
              <a:rPr lang="en-US" altLang="zh-CN" sz="2400" dirty="0"/>
              <a:t>:</a:t>
            </a:r>
            <a:endParaRPr lang="zh-CN" altLang="en-US" sz="2400" dirty="0"/>
          </a:p>
        </p:txBody>
      </p:sp>
      <p:graphicFrame>
        <p:nvGraphicFramePr>
          <p:cNvPr id="52" name="表格 51"/>
          <p:cNvGraphicFramePr>
            <a:graphicFrameLocks noGrp="1"/>
          </p:cNvGraphicFramePr>
          <p:nvPr/>
        </p:nvGraphicFramePr>
        <p:xfrm>
          <a:off x="3933685" y="5194150"/>
          <a:ext cx="644300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029"/>
                <a:gridCol w="970671"/>
                <a:gridCol w="1041009"/>
                <a:gridCol w="317929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0010 00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10001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10010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1111 1111 1111 1100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3933688" y="3983885"/>
          <a:ext cx="644300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959"/>
                <a:gridCol w="970671"/>
                <a:gridCol w="1041009"/>
                <a:gridCol w="319336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4373981" y="4431085"/>
            <a:ext cx="4821820" cy="489159"/>
            <a:chOff x="4373981" y="4431085"/>
            <a:chExt cx="4821820" cy="489159"/>
          </a:xfrm>
        </p:grpSpPr>
        <p:sp>
          <p:nvSpPr>
            <p:cNvPr id="8" name="文本框 7"/>
            <p:cNvSpPr txBox="1"/>
            <p:nvPr/>
          </p:nvSpPr>
          <p:spPr>
            <a:xfrm>
              <a:off x="4373981" y="4431085"/>
              <a:ext cx="5084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>
                      <a:lumMod val="50000"/>
                    </a:schemeClr>
                  </a:solidFill>
                </a:rPr>
                <a:t>op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5476494" y="4431087"/>
              <a:ext cx="407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err="1">
                  <a:solidFill>
                    <a:schemeClr val="bg1">
                      <a:lumMod val="50000"/>
                    </a:schemeClr>
                  </a:solidFill>
                </a:rPr>
                <a:t>rs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510756" y="4431086"/>
              <a:ext cx="394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err="1">
                  <a:solidFill>
                    <a:schemeClr val="bg1">
                      <a:lumMod val="50000"/>
                    </a:schemeClr>
                  </a:solidFill>
                </a:rPr>
                <a:t>rt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8450084" y="4458579"/>
              <a:ext cx="7457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err="1">
                  <a:solidFill>
                    <a:schemeClr val="bg1">
                      <a:lumMod val="50000"/>
                    </a:schemeClr>
                  </a:solidFill>
                </a:rPr>
                <a:t>imm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234519" y="5640947"/>
            <a:ext cx="4809495" cy="379626"/>
            <a:chOff x="4234519" y="5640947"/>
            <a:chExt cx="4809495" cy="379626"/>
          </a:xfrm>
        </p:grpSpPr>
        <p:sp>
          <p:nvSpPr>
            <p:cNvPr id="59" name="文本框 58"/>
            <p:cNvSpPr txBox="1"/>
            <p:nvPr/>
          </p:nvSpPr>
          <p:spPr>
            <a:xfrm>
              <a:off x="4234519" y="5651241"/>
              <a:ext cx="5325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6</a:t>
              </a:r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位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5335432" y="5651241"/>
              <a:ext cx="5325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5</a:t>
              </a:r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位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6399950" y="5651241"/>
              <a:ext cx="5325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5</a:t>
              </a:r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位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8394477" y="5640947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16</a:t>
              </a:r>
              <a:r>
                <a:rPr lang="zh-CN" altLang="en-US" dirty="0">
                  <a:solidFill>
                    <a:srgbClr val="FF0000"/>
                  </a:solidFill>
                </a:rPr>
                <a:t>位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858249" y="1898880"/>
            <a:ext cx="5341465" cy="677641"/>
            <a:chOff x="2858249" y="1898880"/>
            <a:chExt cx="5341465" cy="677641"/>
          </a:xfrm>
        </p:grpSpPr>
        <p:sp>
          <p:nvSpPr>
            <p:cNvPr id="28" name="文本框 27"/>
            <p:cNvSpPr txBox="1"/>
            <p:nvPr/>
          </p:nvSpPr>
          <p:spPr>
            <a:xfrm>
              <a:off x="4488248" y="2176411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</a:rPr>
                <a:t>寄存器</a:t>
              </a:r>
              <a:endParaRPr lang="zh-CN" altLang="en-US" sz="2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" name="右大括号 4"/>
            <p:cNvSpPr/>
            <p:nvPr/>
          </p:nvSpPr>
          <p:spPr>
            <a:xfrm rot="5400000">
              <a:off x="4867429" y="1262043"/>
              <a:ext cx="231569" cy="1505243"/>
            </a:xfrm>
            <a:prstGeom prst="rightBrac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7245607" y="2131831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</a:rPr>
                <a:t>立即数</a:t>
              </a:r>
              <a:endParaRPr lang="zh-CN" altLang="en-US" sz="2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2858249" y="2150852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</a:rPr>
                <a:t>操作码</a:t>
              </a:r>
              <a:endParaRPr lang="zh-CN" altLang="en-US" sz="2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121940" y="6239505"/>
            <a:ext cx="4521636" cy="523220"/>
            <a:chOff x="2121940" y="6239505"/>
            <a:chExt cx="4521636" cy="523220"/>
          </a:xfrm>
        </p:grpSpPr>
        <p:sp>
          <p:nvSpPr>
            <p:cNvPr id="65" name="文本框 64"/>
            <p:cNvSpPr txBox="1"/>
            <p:nvPr/>
          </p:nvSpPr>
          <p:spPr>
            <a:xfrm>
              <a:off x="3937322" y="6239505"/>
              <a:ext cx="27062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b="1" spc="600" dirty="0">
                  <a:solidFill>
                    <a:schemeClr val="bg1">
                      <a:lumMod val="50000"/>
                    </a:schemeClr>
                  </a:solidFill>
                </a:rPr>
                <a:t>0x</a:t>
              </a:r>
              <a:r>
                <a:rPr lang="en-US" altLang="zh-CN" sz="2800" b="1" spc="600" dirty="0">
                  <a:solidFill>
                    <a:srgbClr val="FF0000"/>
                  </a:solidFill>
                </a:rPr>
                <a:t>2232FFFC</a:t>
              </a:r>
              <a:endParaRPr lang="zh-CN" altLang="en-US" sz="2800" b="1" spc="600" dirty="0">
                <a:solidFill>
                  <a:srgbClr val="FF0000"/>
                </a:solidFill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2121940" y="6267642"/>
              <a:ext cx="14975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/>
                <a:t>机器指令</a:t>
              </a:r>
              <a:r>
                <a:rPr lang="en-US" altLang="zh-CN" sz="2400" dirty="0"/>
                <a:t>:</a:t>
              </a:r>
              <a:endParaRPr lang="zh-CN" altLang="en-US" sz="2400" dirty="0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121940" y="2885888"/>
            <a:ext cx="6011711" cy="858663"/>
            <a:chOff x="2121940" y="2885888"/>
            <a:chExt cx="6011711" cy="858663"/>
          </a:xfrm>
        </p:grpSpPr>
        <p:sp>
          <p:nvSpPr>
            <p:cNvPr id="6" name="文本框 5"/>
            <p:cNvSpPr txBox="1"/>
            <p:nvPr/>
          </p:nvSpPr>
          <p:spPr>
            <a:xfrm>
              <a:off x="2121940" y="2999543"/>
              <a:ext cx="14975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/>
                <a:t>汇编代码</a:t>
              </a:r>
              <a:r>
                <a:rPr lang="en-US" altLang="zh-CN" sz="2400" dirty="0"/>
                <a:t>:</a:t>
              </a:r>
              <a:endParaRPr lang="zh-CN" altLang="en-US" sz="2400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3923844" y="2885888"/>
              <a:ext cx="420980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b="1" dirty="0" err="1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addi</a:t>
              </a:r>
              <a:r>
                <a:rPr lang="en-US" altLang="zh-CN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32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$s0,</a:t>
              </a:r>
              <a:r>
                <a:rPr lang="en-US" altLang="zh-CN" sz="24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CN" sz="32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$s1, </a:t>
              </a:r>
              <a:r>
                <a:rPr lang="en-US" altLang="zh-CN" sz="3200" b="1" dirty="0">
                  <a:solidFill>
                    <a:srgbClr val="00B0F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-4</a:t>
              </a:r>
              <a:endParaRPr lang="en-US" altLang="zh-CN" sz="32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444511" y="3267578"/>
              <a:ext cx="407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err="1">
                  <a:solidFill>
                    <a:schemeClr val="bg1">
                      <a:lumMod val="50000"/>
                    </a:schemeClr>
                  </a:solidFill>
                </a:rPr>
                <a:t>rs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5362390" y="3282886"/>
              <a:ext cx="394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err="1">
                  <a:solidFill>
                    <a:schemeClr val="bg1">
                      <a:lumMod val="50000"/>
                    </a:schemeClr>
                  </a:solidFill>
                </a:rPr>
                <a:t>rt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7457173" y="6020573"/>
            <a:ext cx="2839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对正立即数，高</a:t>
            </a:r>
            <a:r>
              <a:rPr lang="en-US" altLang="zh-CN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位都补</a:t>
            </a:r>
            <a:r>
              <a:rPr lang="en-US" altLang="zh-CN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en-US" altLang="zh-CN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对负立即数，高</a:t>
            </a:r>
            <a:r>
              <a:rPr lang="en-US" altLang="zh-CN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位都补</a:t>
            </a:r>
            <a:r>
              <a:rPr lang="en-US" altLang="zh-CN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en-US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9" name="直接箭头连接符 28"/>
          <p:cNvCxnSpPr>
            <a:stCxn id="33" idx="2"/>
            <a:endCxn id="54" idx="3"/>
          </p:cNvCxnSpPr>
          <p:nvPr/>
        </p:nvCxnSpPr>
        <p:spPr>
          <a:xfrm flipH="1">
            <a:off x="5883529" y="3729243"/>
            <a:ext cx="764500" cy="93267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lgDashDot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34" idx="2"/>
            <a:endCxn id="55" idx="1"/>
          </p:cNvCxnSpPr>
          <p:nvPr/>
        </p:nvCxnSpPr>
        <p:spPr>
          <a:xfrm>
            <a:off x="5559720" y="3744551"/>
            <a:ext cx="951036" cy="917368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2023" y="1006053"/>
            <a:ext cx="6807159" cy="881684"/>
          </a:xfrm>
          <a:prstGeom prst="rect">
            <a:avLst/>
          </a:prstGeom>
        </p:spPr>
      </p:pic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/>
          <p:cNvSpPr/>
          <p:nvPr/>
        </p:nvSpPr>
        <p:spPr>
          <a:xfrm>
            <a:off x="2186537" y="801060"/>
            <a:ext cx="7816429" cy="1563739"/>
          </a:xfrm>
          <a:prstGeom prst="roundRect">
            <a:avLst>
              <a:gd name="adj" fmla="val 1063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573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FF0000"/>
                </a:solidFill>
              </a:rPr>
              <a:t>③</a:t>
            </a:r>
            <a:r>
              <a:rPr lang="en-US" altLang="zh-CN" sz="4000" b="1" dirty="0"/>
              <a:t> </a:t>
            </a:r>
            <a:r>
              <a:rPr lang="en-US" altLang="zh-CN" b="1" dirty="0"/>
              <a:t>J</a:t>
            </a:r>
            <a:r>
              <a:rPr lang="en-US" altLang="zh-CN" sz="3600" dirty="0"/>
              <a:t>ump </a:t>
            </a:r>
            <a:r>
              <a:rPr lang="zh-CN" altLang="en-US" sz="4000" b="1" dirty="0"/>
              <a:t>型</a:t>
            </a:r>
            <a:endParaRPr lang="zh-CN" altLang="en-US" sz="4000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5954969" y="1934926"/>
            <a:ext cx="1983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26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位地址操作数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592233" y="1964689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操作码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9975" y="885869"/>
            <a:ext cx="7518420" cy="996818"/>
          </a:xfrm>
          <a:prstGeom prst="rect">
            <a:avLst/>
          </a:prstGeom>
        </p:spPr>
      </p:pic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282702" y="3029991"/>
            <a:ext cx="9612966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altLang="zh-CN" b="0" i="0" dirty="0">
                <a:effectLst/>
                <a:latin typeface="D-DINExp"/>
              </a:rPr>
              <a:t>PC(Program Counter) </a:t>
            </a:r>
            <a:r>
              <a:rPr lang="zh-CN" altLang="en-US" b="0" i="0" dirty="0">
                <a:effectLst/>
                <a:latin typeface="D-DINExp"/>
              </a:rPr>
              <a:t>寄存器是</a:t>
            </a:r>
            <a:r>
              <a:rPr lang="en-US" altLang="zh-CN" b="0" i="0" dirty="0">
                <a:effectLst/>
                <a:latin typeface="D-DINExp"/>
              </a:rPr>
              <a:t>CPU</a:t>
            </a:r>
            <a:r>
              <a:rPr lang="zh-CN" altLang="en-US" b="0" i="0" dirty="0">
                <a:effectLst/>
                <a:latin typeface="D-DINExp"/>
              </a:rPr>
              <a:t>内部的一个特殊寄存器，用于存储下一条将要执行的指令的内存地址。它在指令执行循环中扮演着关键角色：</a:t>
            </a:r>
            <a:endParaRPr lang="zh-CN" altLang="en-US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  <a:buFont typeface="+mj-lt"/>
              <a:buAutoNum type="arabicPeriod"/>
            </a:pPr>
            <a:r>
              <a:rPr lang="zh-CN" altLang="en-US" b="1" i="0" dirty="0">
                <a:effectLst/>
                <a:latin typeface="D-DINExp"/>
              </a:rPr>
              <a:t>指令定位</a:t>
            </a:r>
            <a:r>
              <a:rPr lang="zh-CN" altLang="en-US" b="0" i="0" dirty="0">
                <a:effectLst/>
                <a:latin typeface="D-DINExp"/>
              </a:rPr>
              <a:t>：</a:t>
            </a:r>
            <a:r>
              <a:rPr lang="en-US" altLang="zh-CN" b="0" i="0" dirty="0">
                <a:effectLst/>
                <a:latin typeface="D-DINExp"/>
              </a:rPr>
              <a:t>PC</a:t>
            </a:r>
            <a:r>
              <a:rPr lang="zh-CN" altLang="en-US" b="0" i="0" dirty="0">
                <a:effectLst/>
                <a:latin typeface="D-DINExp"/>
              </a:rPr>
              <a:t>指向内存中下一条要执行的指令</a:t>
            </a:r>
            <a:endParaRPr lang="zh-CN" altLang="en-US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  <a:buFont typeface="+mj-lt"/>
              <a:buAutoNum type="arabicPeriod"/>
            </a:pPr>
            <a:r>
              <a:rPr lang="zh-CN" altLang="en-US" b="1" i="0" dirty="0">
                <a:effectLst/>
                <a:latin typeface="D-DINExp"/>
              </a:rPr>
              <a:t>自动更新</a:t>
            </a:r>
            <a:r>
              <a:rPr lang="zh-CN" altLang="en-US" b="0" i="0" dirty="0">
                <a:effectLst/>
                <a:latin typeface="D-DINExp"/>
              </a:rPr>
              <a:t>：在大多数指令执行后，</a:t>
            </a:r>
            <a:r>
              <a:rPr lang="en-US" altLang="zh-CN" b="0" i="0" dirty="0">
                <a:effectLst/>
                <a:latin typeface="D-DINExp"/>
              </a:rPr>
              <a:t>PC</a:t>
            </a:r>
            <a:r>
              <a:rPr lang="zh-CN" altLang="en-US" b="0" i="0" dirty="0">
                <a:effectLst/>
                <a:latin typeface="D-DINExp"/>
              </a:rPr>
              <a:t>会自动递增，指向下一条指令位置</a:t>
            </a:r>
            <a:endParaRPr lang="zh-CN" altLang="en-US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  <a:buFont typeface="+mj-lt"/>
              <a:buAutoNum type="arabicPeriod"/>
            </a:pPr>
            <a:r>
              <a:rPr lang="zh-CN" altLang="en-US" b="1" i="0" dirty="0">
                <a:effectLst/>
                <a:latin typeface="D-DINExp"/>
              </a:rPr>
              <a:t>程序流控制</a:t>
            </a:r>
            <a:r>
              <a:rPr lang="zh-CN" altLang="en-US" b="0" i="0" dirty="0">
                <a:effectLst/>
                <a:latin typeface="D-DINExp"/>
              </a:rPr>
              <a:t>：跳转、分支和函数调用等指令会修改</a:t>
            </a:r>
            <a:r>
              <a:rPr lang="en-US" altLang="zh-CN" b="0" i="0" dirty="0">
                <a:effectLst/>
                <a:latin typeface="D-DINExp"/>
              </a:rPr>
              <a:t>PC</a:t>
            </a:r>
            <a:r>
              <a:rPr lang="zh-CN" altLang="en-US" b="0" i="0" dirty="0">
                <a:effectLst/>
                <a:latin typeface="D-DINExp"/>
              </a:rPr>
              <a:t>的值，改变程序执行流</a:t>
            </a:r>
            <a:endParaRPr lang="zh-CN" altLang="en-US" b="0" i="0" dirty="0">
              <a:effectLst/>
              <a:latin typeface="D-DINExp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558887" y="2717690"/>
            <a:ext cx="9065079" cy="3154637"/>
            <a:chOff x="1558887" y="3172728"/>
            <a:chExt cx="9065079" cy="3154637"/>
          </a:xfrm>
        </p:grpSpPr>
        <p:pic>
          <p:nvPicPr>
            <p:cNvPr id="28" name="Picture 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8887" y="3172728"/>
              <a:ext cx="9065079" cy="2335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文本框 5"/>
            <p:cNvSpPr txBox="1"/>
            <p:nvPr/>
          </p:nvSpPr>
          <p:spPr>
            <a:xfrm>
              <a:off x="2718115" y="4556959"/>
              <a:ext cx="1486304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rgbClr val="0070C0"/>
                  </a:solidFill>
                </a:rPr>
                <a:t>32-bit sum</a:t>
              </a:r>
              <a:r>
                <a:rPr lang="zh-CN" altLang="en-US" sz="1600" dirty="0">
                  <a:solidFill>
                    <a:srgbClr val="0070C0"/>
                  </a:solidFill>
                </a:rPr>
                <a:t>地址</a:t>
              </a:r>
              <a:endParaRPr lang="zh-CN" altLang="en-US" sz="1600" dirty="0">
                <a:solidFill>
                  <a:srgbClr val="0070C0"/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171372" y="5958033"/>
              <a:ext cx="1225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00B050"/>
                  </a:solidFill>
                </a:rPr>
                <a:t>去掉前</a:t>
              </a:r>
              <a:r>
                <a:rPr lang="en-US" altLang="zh-CN" dirty="0">
                  <a:solidFill>
                    <a:srgbClr val="00B050"/>
                  </a:solidFill>
                </a:rPr>
                <a:t>4</a:t>
              </a:r>
              <a:r>
                <a:rPr lang="zh-CN" altLang="en-US" dirty="0">
                  <a:solidFill>
                    <a:srgbClr val="00B050"/>
                  </a:solidFill>
                </a:rPr>
                <a:t>位</a:t>
              </a:r>
              <a:endParaRPr lang="zh-CN" altLang="en-US" dirty="0">
                <a:solidFill>
                  <a:srgbClr val="00B050"/>
                </a:solidFill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7507647" y="5958033"/>
              <a:ext cx="1572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00B050"/>
                  </a:solidFill>
                </a:rPr>
                <a:t>去掉后</a:t>
              </a:r>
              <a:r>
                <a:rPr lang="en-US" altLang="zh-CN" dirty="0">
                  <a:solidFill>
                    <a:srgbClr val="00B050"/>
                  </a:solidFill>
                </a:rPr>
                <a:t>2</a:t>
              </a:r>
              <a:r>
                <a:rPr lang="zh-CN" altLang="en-US" dirty="0">
                  <a:solidFill>
                    <a:srgbClr val="00B050"/>
                  </a:solidFill>
                </a:rPr>
                <a:t>位</a:t>
              </a:r>
              <a:r>
                <a:rPr lang="en-US" altLang="zh-CN" dirty="0">
                  <a:solidFill>
                    <a:srgbClr val="00B050"/>
                  </a:solidFill>
                </a:rPr>
                <a:t>(/4)</a:t>
              </a:r>
              <a:endParaRPr lang="zh-CN" altLang="en-US" dirty="0">
                <a:solidFill>
                  <a:srgbClr val="00B050"/>
                </a:solidFill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619169" y="5958033"/>
              <a:ext cx="18421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spc="300" dirty="0"/>
                <a:t>保留中间</a:t>
              </a:r>
              <a:r>
                <a:rPr lang="en-US" altLang="zh-CN" b="1" spc="300" dirty="0"/>
                <a:t>26</a:t>
              </a:r>
              <a:r>
                <a:rPr lang="zh-CN" altLang="en-US" b="1" spc="300" dirty="0"/>
                <a:t>位</a:t>
              </a:r>
              <a:endParaRPr lang="zh-CN" altLang="en-US" b="1" spc="300" dirty="0"/>
            </a:p>
          </p:txBody>
        </p:sp>
        <p:cxnSp>
          <p:nvCxnSpPr>
            <p:cNvPr id="7" name="直接箭头连接符 6"/>
            <p:cNvCxnSpPr>
              <a:stCxn id="4" idx="0"/>
            </p:cNvCxnSpPr>
            <p:nvPr/>
          </p:nvCxnSpPr>
          <p:spPr>
            <a:xfrm flipV="1">
              <a:off x="4783880" y="5331919"/>
              <a:ext cx="111391" cy="62611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>
              <a:stCxn id="35" idx="0"/>
            </p:cNvCxnSpPr>
            <p:nvPr/>
          </p:nvCxnSpPr>
          <p:spPr>
            <a:xfrm flipH="1" flipV="1">
              <a:off x="7759619" y="5266551"/>
              <a:ext cx="534461" cy="69148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下箭头 10"/>
            <p:cNvSpPr/>
            <p:nvPr/>
          </p:nvSpPr>
          <p:spPr>
            <a:xfrm>
              <a:off x="6203417" y="5589890"/>
              <a:ext cx="501116" cy="31305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069286" y="4928435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0070C0"/>
                  </a:solidFill>
                </a:rPr>
                <a:t>转换为</a:t>
              </a:r>
              <a:endParaRPr lang="zh-CN" altLang="en-US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24" name="圆角矩形 23"/>
          <p:cNvSpPr/>
          <p:nvPr/>
        </p:nvSpPr>
        <p:spPr>
          <a:xfrm>
            <a:off x="2186537" y="801060"/>
            <a:ext cx="7816429" cy="1563739"/>
          </a:xfrm>
          <a:prstGeom prst="roundRect">
            <a:avLst>
              <a:gd name="adj" fmla="val 1063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573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FF0000"/>
                </a:solidFill>
              </a:rPr>
              <a:t>③</a:t>
            </a:r>
            <a:r>
              <a:rPr lang="en-US" altLang="zh-CN" sz="4000" b="1" dirty="0"/>
              <a:t> </a:t>
            </a:r>
            <a:r>
              <a:rPr lang="en-US" altLang="zh-CN" b="1" dirty="0"/>
              <a:t>J</a:t>
            </a:r>
            <a:r>
              <a:rPr lang="en-US" altLang="zh-CN" sz="3600" dirty="0"/>
              <a:t>ump </a:t>
            </a:r>
            <a:r>
              <a:rPr lang="zh-CN" altLang="en-US" sz="4000" b="1" dirty="0"/>
              <a:t>型</a:t>
            </a:r>
            <a:endParaRPr lang="zh-CN" altLang="en-US" sz="4000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5954969" y="1934926"/>
            <a:ext cx="1983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26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位地址操作数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592233" y="1964689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操作码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975" y="885869"/>
            <a:ext cx="7518420" cy="996818"/>
          </a:xfrm>
          <a:prstGeom prst="rect">
            <a:avLst/>
          </a:prstGeom>
        </p:spPr>
      </p:pic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3692887" y="6125465"/>
                <a:ext cx="5269456" cy="461665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dirty="0">
                            <a:latin typeface="Cambria Math" panose="02040503050406030204" pitchFamily="18" charset="0"/>
                          </a:rPr>
                          <m:t>PC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{(</m:t>
                    </m:r>
                    <m:r>
                      <m:rPr>
                        <m:sty m:val="p"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PC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)[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31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28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],  </m:t>
                    </m:r>
                    <m:r>
                      <a:rPr lang="en-US" altLang="zh-CN" sz="2400" b="1" i="1" dirty="0" err="1">
                        <a:latin typeface="Cambria Math" panose="02040503050406030204" pitchFamily="18" charset="0"/>
                      </a:rPr>
                      <m:t>𝒂𝒅𝒅𝒓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400" dirty="0"/>
                  <a:t> 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887" y="6125465"/>
                <a:ext cx="5269456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91" t="-1156" r="-1266" b="-90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871"/>
            <a:ext cx="12192000" cy="7920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4000" b="1" dirty="0"/>
              <a:t>① 逻辑指令</a:t>
            </a:r>
            <a:endParaRPr lang="zh-CN" altLang="en-US" sz="4000" dirty="0"/>
          </a:p>
        </p:txBody>
      </p:sp>
      <p:graphicFrame>
        <p:nvGraphicFramePr>
          <p:cNvPr id="3" name="Object 5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</p:nvPr>
        </p:nvGraphicFramePr>
        <p:xfrm>
          <a:off x="4466616" y="849313"/>
          <a:ext cx="7248525" cy="307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VISIO" r:id="rId2" imgW="3619500" imgH="1537335" progId="Visio.Drawing.6">
                  <p:embed/>
                </p:oleObj>
              </mc:Choice>
              <mc:Fallback>
                <p:oleObj name="VISIO" r:id="rId2" imgW="3619500" imgH="1537335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6616" y="849313"/>
                        <a:ext cx="7248525" cy="307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Grp="1" noChangeAspect="1"/>
          </p:cNvGraphicFramePr>
          <p:nvPr>
            <p:ph idx="4294967295"/>
            <p:custDataLst>
              <p:tags r:id="rId4"/>
            </p:custDataLst>
          </p:nvPr>
        </p:nvGraphicFramePr>
        <p:xfrm>
          <a:off x="4214123" y="4077768"/>
          <a:ext cx="7518400" cy="273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VISIO" r:id="rId5" imgW="3758565" imgH="1364615" progId="Visio.Drawing.6">
                  <p:embed/>
                </p:oleObj>
              </mc:Choice>
              <mc:Fallback>
                <p:oleObj name="VISIO" r:id="rId5" imgW="3758565" imgH="1364615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123" y="4077768"/>
                        <a:ext cx="7518400" cy="2732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746789" y="2845737"/>
            <a:ext cx="30028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ctr"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没有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NOT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，可用下面代替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2"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 NOR $0 = 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NOT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A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00465" y="1216691"/>
            <a:ext cx="3013657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and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rd</a:t>
            </a:r>
            <a:r>
              <a:rPr lang="zh-CN" altLang="en-US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rs</a:t>
            </a:r>
            <a:r>
              <a:rPr lang="zh-CN" altLang="en-US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rt</a:t>
            </a:r>
            <a:endParaRPr lang="zh-CN" altLang="en-US" sz="2400" b="1" dirty="0"/>
          </a:p>
        </p:txBody>
      </p:sp>
      <p:sp>
        <p:nvSpPr>
          <p:cNvPr id="11" name="矩形 10"/>
          <p:cNvSpPr/>
          <p:nvPr/>
        </p:nvSpPr>
        <p:spPr>
          <a:xfrm>
            <a:off x="1200466" y="4315206"/>
            <a:ext cx="3015569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andi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rt</a:t>
            </a:r>
            <a:r>
              <a:rPr lang="zh-CN" altLang="en-US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rs</a:t>
            </a:r>
            <a:r>
              <a:rPr lang="zh-CN" altLang="en-US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imm</a:t>
            </a:r>
            <a:endParaRPr lang="zh-CN" altLang="en-US" sz="2400" b="1" dirty="0"/>
          </a:p>
        </p:txBody>
      </p:sp>
      <p:sp>
        <p:nvSpPr>
          <p:cNvPr id="12" name="矩形 11"/>
          <p:cNvSpPr/>
          <p:nvPr/>
        </p:nvSpPr>
        <p:spPr>
          <a:xfrm>
            <a:off x="209233" y="1216691"/>
            <a:ext cx="8451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(R</a:t>
            </a:r>
            <a:r>
              <a:rPr lang="zh-CN" altLang="en-US" sz="2400" dirty="0"/>
              <a:t>型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209233" y="4315206"/>
            <a:ext cx="7633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(</a:t>
            </a:r>
            <a:r>
              <a:rPr lang="en-US" altLang="zh-CN" sz="2400" dirty="0">
                <a:cs typeface="Arial" panose="020B0604020202020204" pitchFamily="34" charset="0"/>
              </a:rPr>
              <a:t>I</a:t>
            </a:r>
            <a:r>
              <a:rPr lang="zh-CN" altLang="en-US" sz="2400" dirty="0"/>
              <a:t>型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0" y="4026090"/>
            <a:ext cx="12192000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4000" b="1" dirty="0"/>
              <a:t>② 移位指令</a:t>
            </a:r>
            <a:endParaRPr lang="en-US" altLang="zh-CN" sz="4000" b="1" dirty="0"/>
          </a:p>
        </p:txBody>
      </p:sp>
      <p:graphicFrame>
        <p:nvGraphicFramePr>
          <p:cNvPr id="8" name="Object 3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</p:nvPr>
        </p:nvGraphicFramePr>
        <p:xfrm>
          <a:off x="2640013" y="1635291"/>
          <a:ext cx="6551612" cy="243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VISIO" r:id="rId2" imgW="2403475" imgH="890270" progId="Visio.Drawing.6">
                  <p:embed/>
                </p:oleObj>
              </mc:Choice>
              <mc:Fallback>
                <p:oleObj name="VISIO" r:id="rId2" imgW="2403475" imgH="89027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1635291"/>
                        <a:ext cx="6551612" cy="243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Grp="1" noChangeAspect="1"/>
          </p:cNvGraphicFramePr>
          <p:nvPr>
            <p:ph sz="quarter" idx="4294967295"/>
            <p:custDataLst>
              <p:tags r:id="rId4"/>
            </p:custDataLst>
          </p:nvPr>
        </p:nvGraphicFramePr>
        <p:xfrm>
          <a:off x="4717197" y="4203438"/>
          <a:ext cx="5969000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VISIO" r:id="rId5" imgW="2217420" imgH="918845" progId="Visio.Drawing.6">
                  <p:embed/>
                </p:oleObj>
              </mc:Choice>
              <mc:Fallback>
                <p:oleObj name="VISIO" r:id="rId5" imgW="2217420" imgH="918845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7197" y="4203438"/>
                        <a:ext cx="5969000" cy="247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1393687" y="2334948"/>
            <a:ext cx="1170513" cy="1306986"/>
            <a:chOff x="1393687" y="2334948"/>
            <a:chExt cx="1170513" cy="1306986"/>
          </a:xfrm>
        </p:grpSpPr>
        <p:sp>
          <p:nvSpPr>
            <p:cNvPr id="6" name="文本框 5"/>
            <p:cNvSpPr txBox="1"/>
            <p:nvPr/>
          </p:nvSpPr>
          <p:spPr>
            <a:xfrm>
              <a:off x="1393687" y="2334948"/>
              <a:ext cx="1170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逻辑左移</a:t>
              </a:r>
              <a:r>
                <a:rPr lang="en-US" altLang="zh-CN" dirty="0"/>
                <a:t>:</a:t>
              </a:r>
              <a:endParaRPr lang="zh-CN" altLang="en-US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393687" y="2802050"/>
              <a:ext cx="1170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逻辑右移</a:t>
              </a:r>
              <a:r>
                <a:rPr lang="en-US" altLang="zh-CN" dirty="0"/>
                <a:t>:</a:t>
              </a:r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393687" y="3272602"/>
              <a:ext cx="1170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算数右移</a:t>
              </a:r>
              <a:r>
                <a:rPr lang="en-US" altLang="zh-CN" dirty="0"/>
                <a:t>:</a:t>
              </a:r>
              <a:endParaRPr lang="zh-CN" altLang="en-US" dirty="0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9275169" y="2334948"/>
            <a:ext cx="1667444" cy="1296836"/>
            <a:chOff x="9275169" y="2334948"/>
            <a:chExt cx="1667444" cy="1296836"/>
          </a:xfrm>
        </p:grpSpPr>
        <p:sp>
          <p:nvSpPr>
            <p:cNvPr id="12" name="矩形 11"/>
            <p:cNvSpPr/>
            <p:nvPr/>
          </p:nvSpPr>
          <p:spPr>
            <a:xfrm>
              <a:off x="9275169" y="2334948"/>
              <a:ext cx="15151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$t0 &lt;= $s1 &lt;&lt; 2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9275169" y="2794871"/>
              <a:ext cx="15568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$s2 &lt;= $s1 &gt;&gt; 2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275169" y="3262452"/>
              <a:ext cx="16674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$s3 &lt;= $s1 &gt;&gt;&gt; 2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505803" y="4899472"/>
            <a:ext cx="3038011" cy="143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逻辑左移低位补</a:t>
            </a:r>
            <a:r>
              <a:rPr lang="en-US" altLang="zh-CN" sz="2000" dirty="0"/>
              <a:t>0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逻辑右移高位补</a:t>
            </a:r>
            <a:r>
              <a:rPr lang="en-US" altLang="zh-CN" sz="2000" dirty="0"/>
              <a:t>0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算术右移</a:t>
            </a:r>
            <a:r>
              <a:rPr lang="zh-CN" altLang="en-US" sz="2000" b="1" dirty="0"/>
              <a:t>高位补符号位</a:t>
            </a:r>
            <a:endParaRPr lang="zh-CN" altLang="en-US" sz="2000" dirty="0"/>
          </a:p>
        </p:txBody>
      </p:sp>
      <p:sp>
        <p:nvSpPr>
          <p:cNvPr id="16" name="矩形 15"/>
          <p:cNvSpPr/>
          <p:nvPr/>
        </p:nvSpPr>
        <p:spPr>
          <a:xfrm>
            <a:off x="4766654" y="906533"/>
            <a:ext cx="3199915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sll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rd</a:t>
            </a:r>
            <a:r>
              <a:rPr lang="zh-CN" altLang="en-US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rt</a:t>
            </a:r>
            <a:r>
              <a:rPr lang="zh-CN" altLang="en-US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shamt</a:t>
            </a:r>
            <a:endParaRPr lang="zh-CN" altLang="en-US" sz="2400" b="1" dirty="0"/>
          </a:p>
        </p:txBody>
      </p:sp>
      <p:sp>
        <p:nvSpPr>
          <p:cNvPr id="17" name="箭头: 环形 6"/>
          <p:cNvSpPr/>
          <p:nvPr/>
        </p:nvSpPr>
        <p:spPr>
          <a:xfrm>
            <a:off x="6696501" y="4553803"/>
            <a:ext cx="655093" cy="619313"/>
          </a:xfrm>
          <a:prstGeom prst="circular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4000" b="1" dirty="0"/>
              <a:t>② 移位指令</a:t>
            </a:r>
            <a:endParaRPr lang="en-US" altLang="zh-CN" sz="4000" b="1" dirty="0"/>
          </a:p>
        </p:txBody>
      </p:sp>
      <p:pic>
        <p:nvPicPr>
          <p:cNvPr id="18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591" y="4201276"/>
            <a:ext cx="6511932" cy="2466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4743408" y="916263"/>
            <a:ext cx="2828018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sllv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rd</a:t>
            </a:r>
            <a:r>
              <a:rPr lang="zh-CN" altLang="en-US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rt</a:t>
            </a:r>
            <a:r>
              <a:rPr lang="zh-CN" altLang="en-US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rs</a:t>
            </a:r>
            <a:endParaRPr lang="zh-CN" altLang="en-US" sz="2400" b="1" dirty="0"/>
          </a:p>
        </p:txBody>
      </p:sp>
      <p:sp>
        <p:nvSpPr>
          <p:cNvPr id="20" name="椭圆 19"/>
          <p:cNvSpPr/>
          <p:nvPr/>
        </p:nvSpPr>
        <p:spPr>
          <a:xfrm>
            <a:off x="9353267" y="4913347"/>
            <a:ext cx="718782" cy="4001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859556" y="1674476"/>
            <a:ext cx="10715645" cy="1943604"/>
            <a:chOff x="859556" y="1674476"/>
            <a:chExt cx="10715645" cy="1943604"/>
          </a:xfrm>
        </p:grpSpPr>
        <p:pic>
          <p:nvPicPr>
            <p:cNvPr id="16" name="Pictur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1104" y="1674476"/>
              <a:ext cx="9064097" cy="1943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" name="组合 2"/>
            <p:cNvGrpSpPr/>
            <p:nvPr/>
          </p:nvGrpSpPr>
          <p:grpSpPr>
            <a:xfrm>
              <a:off x="859556" y="2196264"/>
              <a:ext cx="1569660" cy="1197794"/>
              <a:chOff x="859556" y="2196264"/>
              <a:chExt cx="1569660" cy="1197794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859556" y="2196264"/>
                <a:ext cx="15696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/>
                  <a:t>可变逻辑左移</a:t>
                </a:r>
                <a:endParaRPr lang="zh-CN" altLang="en-US" dirty="0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859556" y="2610495"/>
                <a:ext cx="15696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/>
                  <a:t>可变逻辑右移</a:t>
                </a:r>
                <a:endParaRPr lang="zh-CN" altLang="en-US" dirty="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859556" y="3024726"/>
                <a:ext cx="15696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/>
                  <a:t>可</a:t>
                </a:r>
                <a:r>
                  <a:rPr lang="zh-CN" altLang="en-US" dirty="0"/>
                  <a:t>变算术右移</a:t>
                </a:r>
                <a:endParaRPr lang="zh-CN" altLang="en-US" dirty="0"/>
              </a:p>
            </p:txBody>
          </p:sp>
        </p:grpSp>
      </p:grp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2764107" y="2064434"/>
            <a:ext cx="2470548" cy="2083324"/>
            <a:chOff x="2764107" y="2064434"/>
            <a:chExt cx="2470548" cy="2083324"/>
          </a:xfrm>
        </p:grpSpPr>
        <p:sp>
          <p:nvSpPr>
            <p:cNvPr id="17" name="椭圆 16"/>
            <p:cNvSpPr/>
            <p:nvPr/>
          </p:nvSpPr>
          <p:spPr>
            <a:xfrm>
              <a:off x="3743836" y="2064434"/>
              <a:ext cx="511090" cy="141292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764107" y="3747648"/>
              <a:ext cx="24705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$s2</a:t>
              </a:r>
              <a:r>
                <a:rPr lang="zh-CN" altLang="en-US" sz="2000" dirty="0">
                  <a:solidFill>
                    <a:srgbClr val="FF0000"/>
                  </a:solidFill>
                </a:rPr>
                <a:t>低</a:t>
              </a:r>
              <a:r>
                <a:rPr lang="en-US" altLang="zh-CN" sz="2000" dirty="0">
                  <a:solidFill>
                    <a:srgbClr val="FF0000"/>
                  </a:solidFill>
                </a:rPr>
                <a:t>5</a:t>
              </a:r>
              <a:r>
                <a:rPr lang="zh-CN" altLang="en-US" sz="2000" dirty="0">
                  <a:solidFill>
                    <a:srgbClr val="FF0000"/>
                  </a:solidFill>
                </a:rPr>
                <a:t>位给出移位值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3600" b="1" dirty="0"/>
              <a:t>③ 生成常数指令</a:t>
            </a:r>
            <a:endParaRPr lang="en-US" altLang="zh-CN" sz="3600" b="1" dirty="0"/>
          </a:p>
        </p:txBody>
      </p:sp>
      <p:sp>
        <p:nvSpPr>
          <p:cNvPr id="12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209800" y="1560728"/>
            <a:ext cx="8077200" cy="4081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1" name="Rectangle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239301" y="1778624"/>
            <a:ext cx="2549481" cy="88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 Code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 err="1">
                <a:latin typeface="Courier New" panose="02070309020205020404" pitchFamily="49" charset="0"/>
                <a:cs typeface="Arial" panose="020B0604020202020204" pitchFamily="34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a = 0x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4f3c</a:t>
            </a: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;</a:t>
            </a:r>
            <a:endParaRPr lang="en-US" dirty="0"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  <p:sp>
        <p:nvSpPr>
          <p:cNvPr id="22" name="Rectangle 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715826" y="1778624"/>
            <a:ext cx="3352800" cy="1134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MIPS assembly code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$s0 = a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addi</a:t>
            </a: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$s0, $0, 0x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4f3c</a:t>
            </a:r>
            <a:endParaRPr lang="en-US" b="1" dirty="0"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774661" y="3358313"/>
            <a:ext cx="9139340" cy="3208021"/>
            <a:chOff x="1774661" y="3358313"/>
            <a:chExt cx="9139340" cy="3208021"/>
          </a:xfrm>
        </p:grpSpPr>
        <p:sp>
          <p:nvSpPr>
            <p:cNvPr id="13" name="Rectangle 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774661" y="3358313"/>
              <a:ext cx="8813800" cy="5234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63855" indent="-363855">
                <a:lnSpc>
                  <a:spcPct val="9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sz="2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32-bit</a:t>
              </a:r>
              <a:r>
                <a:rPr lang="en-US" sz="2800" dirty="0">
                  <a:latin typeface="Arial Narrow" panose="020B0606020202030204" pitchFamily="34" charset="0"/>
                  <a:cs typeface="Arial" panose="020B0604020202020204" pitchFamily="34" charset="0"/>
                </a:rPr>
                <a:t> </a:t>
              </a:r>
              <a:r>
                <a:rPr lang="zh-CN" altLang="en-US" sz="2800" dirty="0">
                  <a:latin typeface="Arial Narrow" panose="020B0606020202030204" pitchFamily="34" charset="0"/>
                  <a:cs typeface="Arial" panose="020B0604020202020204" pitchFamily="34" charset="0"/>
                </a:rPr>
                <a:t>常量</a:t>
              </a:r>
              <a:r>
                <a:rPr lang="en-US" sz="2800" dirty="0">
                  <a:latin typeface="Arial Narrow" panose="020B0606020202030204" pitchFamily="34" charset="0"/>
                  <a:cs typeface="Arial" panose="020B0604020202020204" pitchFamily="34" charset="0"/>
                </a:rPr>
                <a:t> </a:t>
              </a:r>
              <a:r>
                <a:rPr lang="zh-CN" altLang="en-US" sz="2800" dirty="0">
                  <a:latin typeface="Arial Narrow" panose="020B0606020202030204" pitchFamily="34" charset="0"/>
                  <a:cs typeface="Arial" panose="020B0604020202020204" pitchFamily="34" charset="0"/>
                </a:rPr>
                <a:t>用 </a:t>
              </a:r>
              <a:r>
                <a:rPr lang="en-US" altLang="zh-CN" sz="2800" b="1" dirty="0" err="1">
                  <a:latin typeface="Courier New" panose="02070309020205020404" pitchFamily="49" charset="0"/>
                  <a:cs typeface="Arial" panose="020B0604020202020204" pitchFamily="34" charset="0"/>
                </a:rPr>
                <a:t>lui</a:t>
              </a:r>
              <a:r>
                <a:rPr lang="en-US" sz="2800" dirty="0">
                  <a:latin typeface="Arial Narrow" panose="020B060602020203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dirty="0">
                  <a:latin typeface="+mn-ea"/>
                  <a:cs typeface="Arial" panose="020B0604020202020204" pitchFamily="34" charset="0"/>
                </a:rPr>
                <a:t>(</a:t>
              </a:r>
              <a:r>
                <a:rPr lang="en-US" altLang="zh-CN" sz="2400" b="1" dirty="0">
                  <a:latin typeface="+mn-ea"/>
                  <a:cs typeface="Arial" panose="020B0604020202020204" pitchFamily="34" charset="0"/>
                </a:rPr>
                <a:t>l</a:t>
              </a:r>
              <a:r>
                <a:rPr lang="en-US" altLang="zh-CN" sz="2400" dirty="0">
                  <a:latin typeface="+mn-ea"/>
                  <a:cs typeface="Arial" panose="020B0604020202020204" pitchFamily="34" charset="0"/>
                </a:rPr>
                <a:t>oad </a:t>
              </a:r>
              <a:r>
                <a:rPr lang="en-US" altLang="zh-CN" sz="2400" b="1" dirty="0">
                  <a:latin typeface="+mn-ea"/>
                  <a:cs typeface="Arial" panose="020B0604020202020204" pitchFamily="34" charset="0"/>
                </a:rPr>
                <a:t>u</a:t>
              </a:r>
              <a:r>
                <a:rPr lang="en-US" altLang="zh-CN" sz="2400" dirty="0">
                  <a:latin typeface="+mn-ea"/>
                  <a:cs typeface="Arial" panose="020B0604020202020204" pitchFamily="34" charset="0"/>
                </a:rPr>
                <a:t>pper </a:t>
              </a:r>
              <a:r>
                <a:rPr lang="en-US" altLang="zh-CN" sz="2400" b="1" dirty="0">
                  <a:latin typeface="+mn-ea"/>
                  <a:cs typeface="Arial" panose="020B0604020202020204" pitchFamily="34" charset="0"/>
                </a:rPr>
                <a:t>i</a:t>
              </a:r>
              <a:r>
                <a:rPr lang="en-US" altLang="zh-CN" sz="2400" dirty="0">
                  <a:latin typeface="+mn-ea"/>
                  <a:cs typeface="Arial" panose="020B0604020202020204" pitchFamily="34" charset="0"/>
                </a:rPr>
                <a:t>mmediate</a:t>
              </a:r>
              <a:r>
                <a:rPr lang="en-US" sz="2400" dirty="0">
                  <a:latin typeface="+mn-ea"/>
                  <a:cs typeface="Arial" panose="020B0604020202020204" pitchFamily="34" charset="0"/>
                </a:rPr>
                <a:t>) </a:t>
              </a:r>
              <a:r>
                <a:rPr lang="zh-CN" altLang="en-US" sz="2400" dirty="0">
                  <a:latin typeface="+mn-ea"/>
                  <a:cs typeface="Arial" panose="020B0604020202020204" pitchFamily="34" charset="0"/>
                </a:rPr>
                <a:t>和</a:t>
              </a:r>
              <a:r>
                <a:rPr lang="en-US" sz="2800" dirty="0">
                  <a:latin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latin typeface="Courier New" panose="02070309020205020404" pitchFamily="49" charset="0"/>
                  <a:cs typeface="Arial" panose="020B0604020202020204" pitchFamily="34" charset="0"/>
                </a:rPr>
                <a:t>ori</a:t>
              </a:r>
              <a:r>
                <a:rPr lang="en-US" sz="2800" dirty="0">
                  <a:latin typeface="Times New Roman" panose="02020603050405020304" pitchFamily="18" charset="0"/>
                  <a:cs typeface="Arial" panose="020B0604020202020204" pitchFamily="34" charset="0"/>
                </a:rPr>
                <a:t>:</a:t>
              </a:r>
              <a:endParaRPr lang="en-US" sz="2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6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165519" y="4074614"/>
              <a:ext cx="3075542" cy="11237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</a:pPr>
              <a:r>
                <a:rPr lang="en-US" sz="20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C Code</a:t>
              </a:r>
              <a:endPara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</a:pPr>
              <a:r>
                <a:rPr lang="en-US" dirty="0" err="1">
                  <a:latin typeface="Courier New" panose="02070309020205020404" pitchFamily="49" charset="0"/>
                  <a:cs typeface="Arial" panose="020B0604020202020204" pitchFamily="34" charset="0"/>
                </a:rPr>
                <a:t>int</a:t>
              </a:r>
              <a:r>
                <a:rPr lang="en-US" dirty="0">
                  <a:latin typeface="Courier New" panose="02070309020205020404" pitchFamily="49" charset="0"/>
                  <a:cs typeface="Arial" panose="020B0604020202020204" pitchFamily="34" charset="0"/>
                </a:rPr>
                <a:t> a = 0x</a:t>
              </a:r>
              <a:r>
                <a:rPr lang="en-US" b="1" dirty="0">
                  <a:latin typeface="Courier New" panose="02070309020205020404" pitchFamily="49" charset="0"/>
                  <a:cs typeface="Arial" panose="020B0604020202020204" pitchFamily="34" charset="0"/>
                </a:rPr>
                <a:t>FEDC_8765</a:t>
              </a:r>
              <a:r>
                <a:rPr lang="en-US" dirty="0">
                  <a:latin typeface="Courier New" panose="02070309020205020404" pitchFamily="49" charset="0"/>
                  <a:cs typeface="Arial" panose="020B0604020202020204" pitchFamily="34" charset="0"/>
                </a:rPr>
                <a:t>;</a:t>
              </a:r>
              <a:endParaRPr lang="en-US" dirty="0">
                <a:latin typeface="Courier New" panose="020703090202050204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7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724383" y="4074615"/>
              <a:ext cx="3200400" cy="1509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</a:pPr>
              <a:r>
                <a:rPr lang="en-US" sz="20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MIPS assembly code</a:t>
              </a:r>
              <a:endPara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</a:pP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$s0 = a</a:t>
              </a:r>
              <a:endPara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</a:pPr>
              <a:r>
                <a:rPr lang="en-US" b="1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lui</a:t>
              </a:r>
              <a:r>
                <a:rPr lang="en-US" dirty="0">
                  <a:latin typeface="Courier New" panose="02070309020205020404" pitchFamily="49" charset="0"/>
                  <a:cs typeface="Arial" panose="020B0604020202020204" pitchFamily="34" charset="0"/>
                </a:rPr>
                <a:t> $s0, 0x</a:t>
              </a:r>
              <a:r>
                <a:rPr lang="en-US" b="1" u="sng" dirty="0">
                  <a:latin typeface="Courier New" panose="02070309020205020404" pitchFamily="49" charset="0"/>
                  <a:cs typeface="Arial" panose="020B0604020202020204" pitchFamily="34" charset="0"/>
                </a:rPr>
                <a:t>FEDC</a:t>
              </a:r>
              <a:endParaRPr lang="en-US" b="1" u="sng" dirty="0"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</a:pPr>
              <a:r>
                <a:rPr lang="en-US" b="1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ori</a:t>
              </a:r>
              <a:r>
                <a:rPr lang="en-US" dirty="0">
                  <a:latin typeface="Courier New" panose="02070309020205020404" pitchFamily="49" charset="0"/>
                  <a:cs typeface="Arial" panose="020B0604020202020204" pitchFamily="34" charset="0"/>
                </a:rPr>
                <a:t> $s0, $s0, 0x</a:t>
              </a:r>
              <a:r>
                <a:rPr lang="en-US" b="1" u="sng" dirty="0">
                  <a:latin typeface="Courier New" panose="02070309020205020404" pitchFamily="49" charset="0"/>
                  <a:cs typeface="Arial" panose="020B0604020202020204" pitchFamily="34" charset="0"/>
                </a:rPr>
                <a:t>8765</a:t>
              </a:r>
              <a:endParaRPr lang="en-US" b="1" u="sng" dirty="0">
                <a:latin typeface="Courier New" panose="020703090202050204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2368072" y="5673782"/>
              <a:ext cx="8545929" cy="892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000" b="1" dirty="0" err="1">
                  <a:latin typeface="Courier New" panose="02070309020205020404" pitchFamily="49" charset="0"/>
                  <a:cs typeface="Arial" panose="020B0604020202020204" pitchFamily="34" charset="0"/>
                </a:rPr>
                <a:t>lui</a:t>
              </a:r>
              <a:r>
                <a:rPr lang="zh-CN" altLang="en-US" sz="2000" dirty="0">
                  <a:latin typeface="Courier New" panose="02070309020205020404" pitchFamily="49" charset="0"/>
                  <a:cs typeface="Arial" panose="020B0604020202020204" pitchFamily="34" charset="0"/>
                </a:rPr>
                <a:t>指令：将一个</a:t>
              </a:r>
              <a:r>
                <a:rPr lang="en-US" altLang="zh-CN" sz="2000" dirty="0">
                  <a:latin typeface="Courier New" panose="02070309020205020404" pitchFamily="49" charset="0"/>
                  <a:cs typeface="Arial" panose="020B0604020202020204" pitchFamily="34" charset="0"/>
                </a:rPr>
                <a:t>16</a:t>
              </a:r>
              <a:r>
                <a:rPr lang="zh-CN" altLang="en-US" sz="2000" dirty="0">
                  <a:latin typeface="Courier New" panose="02070309020205020404" pitchFamily="49" charset="0"/>
                  <a:cs typeface="Arial" panose="020B0604020202020204" pitchFamily="34" charset="0"/>
                </a:rPr>
                <a:t>位立即数装入到寄存器的高</a:t>
              </a:r>
              <a:r>
                <a:rPr lang="en-US" altLang="zh-CN" sz="2000" dirty="0">
                  <a:latin typeface="Courier New" panose="02070309020205020404" pitchFamily="49" charset="0"/>
                  <a:cs typeface="Arial" panose="020B0604020202020204" pitchFamily="34" charset="0"/>
                </a:rPr>
                <a:t>16</a:t>
              </a:r>
              <a:r>
                <a:rPr lang="zh-CN" altLang="en-US" sz="2000" dirty="0">
                  <a:latin typeface="Courier New" panose="02070309020205020404" pitchFamily="49" charset="0"/>
                  <a:cs typeface="Arial" panose="020B0604020202020204" pitchFamily="34" charset="0"/>
                </a:rPr>
                <a:t>位，并将低</a:t>
              </a:r>
              <a:r>
                <a:rPr lang="en-US" altLang="zh-CN" sz="2000" dirty="0">
                  <a:latin typeface="Courier New" panose="02070309020205020404" pitchFamily="49" charset="0"/>
                  <a:cs typeface="Arial" panose="020B0604020202020204" pitchFamily="34" charset="0"/>
                </a:rPr>
                <a:t>16</a:t>
              </a:r>
              <a:r>
                <a:rPr lang="zh-CN" altLang="en-US" sz="2000" dirty="0">
                  <a:latin typeface="Courier New" panose="02070309020205020404" pitchFamily="49" charset="0"/>
                  <a:cs typeface="Arial" panose="020B0604020202020204" pitchFamily="34" charset="0"/>
                </a:rPr>
                <a:t>位都置</a:t>
              </a:r>
              <a:r>
                <a:rPr lang="en-US" altLang="zh-CN" sz="2000" dirty="0">
                  <a:latin typeface="Courier New" panose="02070309020205020404" pitchFamily="49" charset="0"/>
                  <a:cs typeface="Arial" panose="020B0604020202020204" pitchFamily="34" charset="0"/>
                </a:rPr>
                <a:t>0.</a:t>
              </a:r>
              <a:endParaRPr lang="en-US" altLang="zh-CN" sz="2000" dirty="0"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000" b="1" dirty="0" err="1">
                  <a:latin typeface="Courier New" panose="02070309020205020404" pitchFamily="49" charset="0"/>
                  <a:cs typeface="Arial" panose="020B0604020202020204" pitchFamily="34" charset="0"/>
                </a:rPr>
                <a:t>ori</a:t>
              </a:r>
              <a:r>
                <a:rPr lang="zh-CN" altLang="en-US" sz="2000" dirty="0">
                  <a:latin typeface="Courier New" panose="02070309020205020404" pitchFamily="49" charset="0"/>
                  <a:cs typeface="Arial" panose="020B0604020202020204" pitchFamily="34" charset="0"/>
                </a:rPr>
                <a:t>指令：将一个</a:t>
              </a:r>
              <a:r>
                <a:rPr lang="en-US" altLang="zh-CN" sz="2000" dirty="0">
                  <a:latin typeface="Courier New" panose="02070309020205020404" pitchFamily="49" charset="0"/>
                  <a:cs typeface="Arial" panose="020B0604020202020204" pitchFamily="34" charset="0"/>
                </a:rPr>
                <a:t>16</a:t>
              </a:r>
              <a:r>
                <a:rPr lang="zh-CN" altLang="en-US" sz="2000" dirty="0">
                  <a:latin typeface="Courier New" panose="02070309020205020404" pitchFamily="49" charset="0"/>
                  <a:cs typeface="Arial" panose="020B0604020202020204" pitchFamily="34" charset="0"/>
                </a:rPr>
                <a:t>位立即数合并到寄存器的低</a:t>
              </a:r>
              <a:r>
                <a:rPr lang="en-US" altLang="zh-CN" sz="2000" dirty="0">
                  <a:latin typeface="Courier New" panose="02070309020205020404" pitchFamily="49" charset="0"/>
                  <a:cs typeface="Arial" panose="020B0604020202020204" pitchFamily="34" charset="0"/>
                </a:rPr>
                <a:t>16</a:t>
              </a:r>
              <a:r>
                <a:rPr lang="zh-CN" altLang="en-US" sz="2000" dirty="0">
                  <a:latin typeface="Courier New" panose="02070309020205020404" pitchFamily="49" charset="0"/>
                  <a:cs typeface="Arial" panose="020B0604020202020204" pitchFamily="34" charset="0"/>
                </a:rPr>
                <a:t>位。</a:t>
              </a:r>
              <a:r>
                <a:rPr lang="en-US" altLang="zh-CN" sz="2000" dirty="0">
                  <a:latin typeface="Courier New" panose="02070309020205020404" pitchFamily="49" charset="0"/>
                  <a:cs typeface="Arial" panose="020B0604020202020204" pitchFamily="34" charset="0"/>
                </a:rPr>
                <a:t> </a:t>
              </a:r>
              <a:endParaRPr lang="zh-CN" altLang="en-US" sz="2000" dirty="0"/>
            </a:p>
          </p:txBody>
        </p:sp>
      </p:grpSp>
      <p:sp>
        <p:nvSpPr>
          <p:cNvPr id="16" name="Rectangle 5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774661" y="951135"/>
            <a:ext cx="8813800" cy="523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63855" indent="-363855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16-bit</a:t>
            </a: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常量</a:t>
            </a: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用</a:t>
            </a: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addi</a:t>
            </a: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28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52242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3600" b="1" dirty="0"/>
              <a:t>④ 乘法指令、除法指令</a:t>
            </a:r>
            <a:endParaRPr lang="en-US" altLang="zh-CN" sz="3600" b="1" dirty="0"/>
          </a:p>
        </p:txBody>
      </p:sp>
      <p:sp>
        <p:nvSpPr>
          <p:cNvPr id="17" name="矩形 16"/>
          <p:cNvSpPr/>
          <p:nvPr/>
        </p:nvSpPr>
        <p:spPr>
          <a:xfrm>
            <a:off x="1912147" y="1211111"/>
            <a:ext cx="2396810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mult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rs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, 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rt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endParaRPr lang="zh-CN" altLang="en-US" sz="2400" b="1" dirty="0"/>
          </a:p>
        </p:txBody>
      </p:sp>
      <p:sp>
        <p:nvSpPr>
          <p:cNvPr id="18" name="矩形 17"/>
          <p:cNvSpPr/>
          <p:nvPr/>
        </p:nvSpPr>
        <p:spPr>
          <a:xfrm>
            <a:off x="1912147" y="3959141"/>
            <a:ext cx="2396810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div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rs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, rt </a:t>
            </a:r>
            <a:endParaRPr lang="zh-CN" altLang="en-US" sz="24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5088034" y="1149556"/>
            <a:ext cx="3256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{[hi] , [lo]} = [</a:t>
            </a:r>
            <a:r>
              <a:rPr lang="en-US" altLang="zh-CN" sz="2800" dirty="0" err="1"/>
              <a:t>rs</a:t>
            </a:r>
            <a:r>
              <a:rPr lang="en-US" altLang="zh-CN" sz="2800" dirty="0"/>
              <a:t>] x [</a:t>
            </a:r>
            <a:r>
              <a:rPr lang="en-US" altLang="zh-CN" sz="2800" dirty="0" err="1"/>
              <a:t>rt</a:t>
            </a:r>
            <a:r>
              <a:rPr lang="en-US" altLang="zh-CN" sz="2800" dirty="0"/>
              <a:t>]</a:t>
            </a:r>
            <a:endParaRPr lang="zh-CN" altLang="en-US" sz="2800" dirty="0"/>
          </a:p>
        </p:txBody>
      </p:sp>
      <p:sp>
        <p:nvSpPr>
          <p:cNvPr id="20" name="文本框 19"/>
          <p:cNvSpPr txBox="1"/>
          <p:nvPr/>
        </p:nvSpPr>
        <p:spPr>
          <a:xfrm>
            <a:off x="5088034" y="3905280"/>
            <a:ext cx="2387448" cy="1031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dirty="0"/>
              <a:t>[lo] = [</a:t>
            </a:r>
            <a:r>
              <a:rPr lang="en-US" altLang="zh-CN" sz="2800" dirty="0" err="1"/>
              <a:t>rs</a:t>
            </a:r>
            <a:r>
              <a:rPr lang="en-US" altLang="zh-CN" sz="2800" dirty="0"/>
              <a:t>] /  [rt]</a:t>
            </a:r>
            <a:endParaRPr lang="en-US" altLang="zh-CN" sz="2800" dirty="0"/>
          </a:p>
          <a:p>
            <a:pPr>
              <a:spcAft>
                <a:spcPts val="600"/>
              </a:spcAft>
            </a:pPr>
            <a:r>
              <a:rPr lang="en-US" altLang="zh-CN" sz="2800" dirty="0"/>
              <a:t>[hi] = [</a:t>
            </a:r>
            <a:r>
              <a:rPr lang="en-US" altLang="zh-CN" sz="2800" dirty="0" err="1"/>
              <a:t>rs</a:t>
            </a:r>
            <a:r>
              <a:rPr lang="en-US" altLang="zh-CN" sz="2800" dirty="0"/>
              <a:t>] % [rt]</a:t>
            </a:r>
            <a:endParaRPr lang="zh-CN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5425594" y="2198103"/>
            <a:ext cx="2581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mult</a:t>
            </a:r>
            <a:r>
              <a:rPr lang="en-US" altLang="zh-CN" sz="2400" dirty="0">
                <a:latin typeface="Courier New" panose="02070309020205020404" pitchFamily="49" charset="0"/>
                <a:cs typeface="Arial" panose="020B0604020202020204" pitchFamily="34" charset="0"/>
              </a:rPr>
              <a:t> $s0, $s1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8041248" y="392191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商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8041248" y="4418015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余数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5469962" y="5411004"/>
            <a:ext cx="27622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div</a:t>
            </a:r>
            <a:r>
              <a:rPr lang="en-US" altLang="zh-CN" sz="2800" dirty="0">
                <a:latin typeface="Courier New" panose="02070309020205020404" pitchFamily="49" charset="0"/>
                <a:cs typeface="Arial" panose="020B0604020202020204" pitchFamily="34" charset="0"/>
              </a:rPr>
              <a:t> $s0, $s1</a:t>
            </a:r>
            <a:endParaRPr lang="zh-CN" altLang="en-US" sz="28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3600" dirty="0"/>
              <a:t>⑤ 条件分支指令</a:t>
            </a:r>
            <a:endParaRPr lang="en-US" altLang="zh-CN" sz="3600" b="1" dirty="0"/>
          </a:p>
        </p:txBody>
      </p:sp>
      <p:sp>
        <p:nvSpPr>
          <p:cNvPr id="3" name="矩形 2"/>
          <p:cNvSpPr/>
          <p:nvPr/>
        </p:nvSpPr>
        <p:spPr>
          <a:xfrm>
            <a:off x="2305793" y="2253586"/>
            <a:ext cx="8775353" cy="287001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Tx/>
              <a:buNone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</a:rPr>
              <a:t>0x</a:t>
            </a:r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</a:rPr>
              <a:t>40</a:t>
            </a:r>
            <a:r>
              <a:rPr lang="en-US" altLang="zh-CN" sz="2000" dirty="0">
                <a:latin typeface="Courier New" panose="02070309020205020404" pitchFamily="49" charset="0"/>
              </a:rPr>
              <a:t>			 </a:t>
            </a:r>
            <a:r>
              <a:rPr lang="en-US" altLang="zh-CN" sz="2000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</a:rPr>
              <a:t>addi</a:t>
            </a:r>
            <a:r>
              <a:rPr lang="en-US" altLang="zh-CN" sz="2000" dirty="0">
                <a:latin typeface="Courier New" panose="02070309020205020404" pitchFamily="49" charset="0"/>
              </a:rPr>
              <a:t> $s0, $0, 4       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# $s0 = 0 + 4 = 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4</a:t>
            </a:r>
            <a:endParaRPr lang="en-US" altLang="zh-CN" sz="20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</a:rPr>
              <a:t>0x</a:t>
            </a:r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</a:rPr>
              <a:t>44</a:t>
            </a:r>
            <a:r>
              <a:rPr lang="en-US" altLang="zh-CN" sz="2000" dirty="0">
                <a:latin typeface="Courier New" panose="02070309020205020404" pitchFamily="49" charset="0"/>
              </a:rPr>
              <a:t> 			 </a:t>
            </a:r>
            <a:r>
              <a:rPr lang="en-US" altLang="zh-CN" sz="2000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</a:rPr>
              <a:t>addi</a:t>
            </a:r>
            <a:r>
              <a:rPr lang="en-US" altLang="zh-CN" sz="2000" dirty="0">
                <a:latin typeface="Courier New" panose="02070309020205020404" pitchFamily="49" charset="0"/>
              </a:rPr>
              <a:t> $s1, $0, 1       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# $s1 = 0 + 1 = 1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</a:rPr>
              <a:t>0x</a:t>
            </a:r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</a:rPr>
              <a:t>48</a:t>
            </a:r>
            <a:r>
              <a:rPr lang="en-US" altLang="zh-CN" sz="2000" dirty="0">
                <a:latin typeface="Courier New" panose="02070309020205020404" pitchFamily="49" charset="0"/>
              </a:rPr>
              <a:t> 			 </a:t>
            </a:r>
            <a:r>
              <a:rPr lang="en-US" altLang="zh-CN" sz="2000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</a:rPr>
              <a:t>sll</a:t>
            </a:r>
            <a:r>
              <a:rPr lang="en-US" altLang="zh-CN" sz="2000" dirty="0">
                <a:latin typeface="Courier New" panose="02070309020205020404" pitchFamily="49" charset="0"/>
              </a:rPr>
              <a:t>  $s1, $s1, 2      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# $s1 = 1 &lt;&lt; 2 = 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4</a:t>
            </a:r>
            <a:endParaRPr lang="en-US" altLang="zh-CN" sz="20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</a:rPr>
              <a:t>0x</a:t>
            </a:r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</a:rPr>
              <a:t>4C</a:t>
            </a:r>
            <a:r>
              <a:rPr lang="en-US" altLang="zh-CN" sz="2000" dirty="0">
                <a:latin typeface="Courier New" panose="02070309020205020404" pitchFamily="49" charset="0"/>
              </a:rPr>
              <a:t> 			 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beq</a:t>
            </a:r>
            <a:r>
              <a:rPr lang="en-US" altLang="zh-CN" sz="2000" dirty="0">
                <a:latin typeface="Courier New" panose="02070309020205020404" pitchFamily="49" charset="0"/>
              </a:rPr>
              <a:t>  $s0, $s1, 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target</a:t>
            </a:r>
            <a:r>
              <a:rPr lang="en-US" altLang="zh-CN" sz="2000" dirty="0">
                <a:latin typeface="Courier New" panose="02070309020205020404" pitchFamily="49" charset="0"/>
              </a:rPr>
              <a:t>  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# branch is taken</a:t>
            </a:r>
            <a:endParaRPr lang="en-US" altLang="zh-CN" sz="20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</a:rPr>
              <a:t>0x</a:t>
            </a:r>
            <a:r>
              <a:rPr lang="en-US" altLang="zh-CN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50</a:t>
            </a:r>
            <a:r>
              <a:rPr lang="en-US" altLang="zh-CN" sz="2000" dirty="0">
                <a:latin typeface="Courier New" panose="02070309020205020404" pitchFamily="49" charset="0"/>
              </a:rPr>
              <a:t> 			 </a:t>
            </a:r>
            <a:r>
              <a:rPr lang="en-US" altLang="zh-CN" sz="2000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</a:rPr>
              <a:t>addi</a:t>
            </a:r>
            <a:r>
              <a:rPr lang="en-US" altLang="zh-CN" sz="2000" dirty="0">
                <a:latin typeface="Courier New" panose="02070309020205020404" pitchFamily="49" charset="0"/>
              </a:rPr>
              <a:t> $s1, $s1, 1      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# not executed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</a:rPr>
              <a:t>0x</a:t>
            </a:r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</a:rPr>
              <a:t>54</a:t>
            </a:r>
            <a:r>
              <a:rPr lang="en-US" altLang="zh-CN" sz="2000" dirty="0">
                <a:latin typeface="Courier New" panose="02070309020205020404" pitchFamily="49" charset="0"/>
              </a:rPr>
              <a:t> 			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</a:rPr>
              <a:t>sub</a:t>
            </a:r>
            <a:r>
              <a:rPr lang="en-US" altLang="zh-CN" sz="2000" dirty="0">
                <a:latin typeface="Courier New" panose="02070309020205020404" pitchFamily="49" charset="0"/>
              </a:rPr>
              <a:t>  $s1, $s1, $s0    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# not executed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</a:rPr>
              <a:t>0x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58</a:t>
            </a:r>
            <a:r>
              <a:rPr lang="en-US" altLang="zh-CN" sz="2000" b="1" dirty="0"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target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: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</a:rPr>
              <a:t>add</a:t>
            </a:r>
            <a:r>
              <a:rPr lang="en-US" altLang="zh-CN" sz="2000" dirty="0">
                <a:latin typeface="Courier New" panose="02070309020205020404" pitchFamily="49" charset="0"/>
              </a:rPr>
              <a:t>  $s1, $s1, $s0    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# $s1 = 4 + 4 = 8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53077" y="1077662"/>
            <a:ext cx="3318537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beq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rs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, 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rt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, label</a:t>
            </a:r>
            <a:endParaRPr lang="zh-CN" altLang="en-US" sz="2400" b="1" dirty="0"/>
          </a:p>
        </p:txBody>
      </p:sp>
      <p:sp>
        <p:nvSpPr>
          <p:cNvPr id="5" name="矩形 4"/>
          <p:cNvSpPr/>
          <p:nvPr/>
        </p:nvSpPr>
        <p:spPr>
          <a:xfrm>
            <a:off x="676791" y="1621944"/>
            <a:ext cx="21164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r>
              <a:rPr lang="en-US" altLang="zh-CN" sz="2400" dirty="0"/>
              <a:t>ranch if </a:t>
            </a:r>
            <a:r>
              <a:rPr lang="en-US" altLang="zh-CN" sz="2400" dirty="0">
                <a:solidFill>
                  <a:srgbClr val="FF0000"/>
                </a:solidFill>
              </a:rPr>
              <a:t>eq</a:t>
            </a:r>
            <a:r>
              <a:rPr lang="en-US" altLang="zh-CN" sz="2400" dirty="0"/>
              <a:t>ual </a:t>
            </a:r>
            <a:endParaRPr lang="zh-CN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7513704" y="1077663"/>
            <a:ext cx="3318537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bne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rs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, 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rt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, label</a:t>
            </a:r>
            <a:endParaRPr lang="zh-CN" altLang="en-US" sz="2400" b="1" dirty="0"/>
          </a:p>
        </p:txBody>
      </p:sp>
      <p:sp>
        <p:nvSpPr>
          <p:cNvPr id="15" name="矩形 14"/>
          <p:cNvSpPr/>
          <p:nvPr/>
        </p:nvSpPr>
        <p:spPr>
          <a:xfrm>
            <a:off x="6733541" y="1653434"/>
            <a:ext cx="26117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r>
              <a:rPr lang="en-US" altLang="zh-CN" sz="2400" dirty="0"/>
              <a:t>ranch if </a:t>
            </a:r>
            <a:r>
              <a:rPr lang="en-US" altLang="zh-CN" sz="2400" dirty="0">
                <a:solidFill>
                  <a:srgbClr val="FF0000"/>
                </a:solidFill>
              </a:rPr>
              <a:t>n</a:t>
            </a:r>
            <a:r>
              <a:rPr lang="en-US" altLang="zh-CN" sz="2400" dirty="0"/>
              <a:t>ot </a:t>
            </a:r>
            <a:r>
              <a:rPr lang="en-US" altLang="zh-CN" sz="2400" dirty="0">
                <a:solidFill>
                  <a:srgbClr val="FF0000"/>
                </a:solidFill>
              </a:rPr>
              <a:t>e</a:t>
            </a:r>
            <a:r>
              <a:rPr lang="en-US" altLang="zh-CN" sz="2400" dirty="0"/>
              <a:t>qual </a:t>
            </a:r>
            <a:endParaRPr lang="zh-CN" altLang="en-US" sz="240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85637" y="5849713"/>
            <a:ext cx="42402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beq</a:t>
            </a:r>
            <a:r>
              <a:rPr lang="en-US" altLang="zh-CN" sz="2400" dirty="0">
                <a:latin typeface="Courier New" panose="02070309020205020404" pitchFamily="49" charset="0"/>
              </a:rPr>
              <a:t>  $s0, $s1, 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target</a:t>
            </a:r>
            <a:r>
              <a:rPr lang="en-US" altLang="zh-CN" sz="2400" dirty="0">
                <a:latin typeface="Courier New" panose="02070309020205020404" pitchFamily="49" charset="0"/>
              </a:rPr>
              <a:t> </a:t>
            </a:r>
            <a:endParaRPr lang="zh-CN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687557" y="5297053"/>
          <a:ext cx="4680341" cy="14549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2232"/>
                <a:gridCol w="872232"/>
                <a:gridCol w="872232"/>
                <a:gridCol w="2063645"/>
              </a:tblGrid>
              <a:tr h="3921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op</a:t>
                      </a:r>
                      <a:endParaRPr lang="zh-CN" altLang="en-US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rs</a:t>
                      </a:r>
                      <a:endParaRPr lang="zh-CN" altLang="en-US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rt</a:t>
                      </a:r>
                      <a:endParaRPr lang="zh-CN" altLang="en-US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imm</a:t>
                      </a:r>
                      <a:endParaRPr lang="zh-CN" altLang="en-US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51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16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17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51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000101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10000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10001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0000 0000 0000 00</a:t>
                      </a:r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21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  <a:r>
                        <a:rPr lang="zh-CN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位</a:t>
                      </a:r>
                      <a:endParaRPr lang="zh-CN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r>
                        <a:rPr lang="zh-CN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位</a:t>
                      </a:r>
                      <a:endParaRPr lang="zh-CN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r>
                        <a:rPr lang="zh-CN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位</a:t>
                      </a:r>
                      <a:endParaRPr lang="zh-CN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16</a:t>
                      </a:r>
                      <a:r>
                        <a:rPr lang="zh-CN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位</a:t>
                      </a:r>
                      <a:endParaRPr lang="zh-CN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062027" y="5314772"/>
                <a:ext cx="3763274" cy="400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0" dirty="0" smtClean="0">
                          <a:latin typeface="Cambria Math" panose="02040503050406030204" pitchFamily="18" charset="0"/>
                        </a:rPr>
                        <m:t>P</m:t>
                      </m:r>
                      <m:sSup>
                        <m:sSup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00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p>
                          <m:r>
                            <a:rPr lang="en-US" altLang="zh-CN" sz="2000" b="0" i="0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dirty="0" smtClean="0">
                          <a:latin typeface="Cambria Math" panose="02040503050406030204" pitchFamily="18" charset="0"/>
                        </a:rPr>
                        <m:t>PC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𝑆𝑖𝑔𝑛𝐼𝑚𝑚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027" y="5314772"/>
                <a:ext cx="3763274" cy="400110"/>
              </a:xfrm>
              <a:prstGeom prst="rect">
                <a:avLst/>
              </a:prstGeom>
              <a:blipFill rotWithShape="1">
                <a:blip r:embed="rId1"/>
                <a:stretch>
                  <a:fillRect l="-143" t="-1225" r="-120" b="-114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左中括号 8"/>
          <p:cNvSpPr/>
          <p:nvPr/>
        </p:nvSpPr>
        <p:spPr>
          <a:xfrm>
            <a:off x="1999718" y="4108301"/>
            <a:ext cx="180112" cy="814725"/>
          </a:xfrm>
          <a:prstGeom prst="leftBracket">
            <a:avLst>
              <a:gd name="adj" fmla="val 71166"/>
            </a:avLst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注: 线形(无边框) 9"/>
              <p:cNvSpPr/>
              <p:nvPr/>
            </p:nvSpPr>
            <p:spPr>
              <a:xfrm>
                <a:off x="964007" y="3911711"/>
                <a:ext cx="856871" cy="338554"/>
              </a:xfrm>
              <a:prstGeom prst="callout1">
                <a:avLst>
                  <a:gd name="adj1" fmla="val 49258"/>
                  <a:gd name="adj2" fmla="val 96864"/>
                  <a:gd name="adj3" fmla="val 53511"/>
                  <a:gd name="adj4" fmla="val 147278"/>
                </a:avLst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PC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0" name="标注: 线形(无边框)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07" y="3911711"/>
                <a:ext cx="856871" cy="338554"/>
              </a:xfrm>
              <a:prstGeom prst="callout1">
                <a:avLst>
                  <a:gd name="adj1" fmla="val 49258"/>
                  <a:gd name="adj2" fmla="val 96864"/>
                  <a:gd name="adj3" fmla="val 53511"/>
                  <a:gd name="adj4" fmla="val 147278"/>
                </a:avLst>
              </a:prstGeom>
              <a:blipFill rotWithShape="1">
                <a:blip r:embed="rId2"/>
                <a:stretch>
                  <a:fillRect l="-9" t="-33" r="-47241" b="62"/>
                </a:stretch>
              </a:blip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注: 线形(无边框) 15"/>
              <p:cNvSpPr/>
              <p:nvPr/>
            </p:nvSpPr>
            <p:spPr>
              <a:xfrm>
                <a:off x="1117996" y="4785048"/>
                <a:ext cx="541707" cy="338554"/>
              </a:xfrm>
              <a:prstGeom prst="callout1">
                <a:avLst>
                  <a:gd name="adj1" fmla="val 48191"/>
                  <a:gd name="adj2" fmla="val 102960"/>
                  <a:gd name="adj3" fmla="val 49778"/>
                  <a:gd name="adj4" fmla="val 205667"/>
                </a:avLst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dirty="0" smtClean="0">
                          <a:latin typeface="Cambria Math" panose="02040503050406030204" pitchFamily="18" charset="0"/>
                        </a:rPr>
                        <m:t>PC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6" name="标注: 线形(无边框)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996" y="4785048"/>
                <a:ext cx="541707" cy="338554"/>
              </a:xfrm>
              <a:prstGeom prst="callout1">
                <a:avLst>
                  <a:gd name="adj1" fmla="val 48191"/>
                  <a:gd name="adj2" fmla="val 102960"/>
                  <a:gd name="adj3" fmla="val 49778"/>
                  <a:gd name="adj4" fmla="val 205667"/>
                </a:avLst>
              </a:prstGeom>
              <a:blipFill rotWithShape="1">
                <a:blip r:embed="rId3"/>
                <a:stretch>
                  <a:fillRect l="-73" t="-95" r="-105652" b="125"/>
                </a:stretch>
              </a:blip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注: 线形(无边框) 16"/>
              <p:cNvSpPr/>
              <p:nvPr/>
            </p:nvSpPr>
            <p:spPr>
              <a:xfrm>
                <a:off x="1322047" y="3584752"/>
                <a:ext cx="482237" cy="338554"/>
              </a:xfrm>
              <a:prstGeom prst="callout1">
                <a:avLst>
                  <a:gd name="adj1" fmla="val 48084"/>
                  <a:gd name="adj2" fmla="val 99392"/>
                  <a:gd name="adj3" fmla="val 49031"/>
                  <a:gd name="adj4" fmla="val 188283"/>
                </a:avLst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PC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7" name="标注: 线形(无边框)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047" y="3584752"/>
                <a:ext cx="482237" cy="338554"/>
              </a:xfrm>
              <a:prstGeom prst="callout1">
                <a:avLst>
                  <a:gd name="adj1" fmla="val 48084"/>
                  <a:gd name="adj2" fmla="val 99392"/>
                  <a:gd name="adj3" fmla="val 49031"/>
                  <a:gd name="adj4" fmla="val 188283"/>
                </a:avLst>
              </a:prstGeom>
              <a:blipFill rotWithShape="1">
                <a:blip r:embed="rId4"/>
                <a:stretch>
                  <a:fillRect l="-127" t="-52" r="-88173" b="82"/>
                </a:stretch>
              </a:blip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连接符: 曲线 11"/>
          <p:cNvCxnSpPr/>
          <p:nvPr/>
        </p:nvCxnSpPr>
        <p:spPr>
          <a:xfrm>
            <a:off x="2179830" y="4507454"/>
            <a:ext cx="7007201" cy="1342259"/>
          </a:xfrm>
          <a:prstGeom prst="curvedConnector3">
            <a:avLst>
              <a:gd name="adj1" fmla="val 860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8" grpId="0" animBg="1"/>
      <p:bldP spid="9" grpId="0" animBg="1"/>
      <p:bldP spid="10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52242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3600" dirty="0"/>
              <a:t>⑥ 无条件分支指令</a:t>
            </a:r>
            <a:endParaRPr lang="zh-CN" altLang="en-US" sz="3600" dirty="0"/>
          </a:p>
        </p:txBody>
      </p:sp>
      <p:sp>
        <p:nvSpPr>
          <p:cNvPr id="4" name="矩形 3"/>
          <p:cNvSpPr/>
          <p:nvPr/>
        </p:nvSpPr>
        <p:spPr>
          <a:xfrm>
            <a:off x="2769432" y="2757142"/>
            <a:ext cx="7056955" cy="367023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Tx/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</a:rPr>
              <a:t>addi</a:t>
            </a:r>
            <a:r>
              <a:rPr lang="en-US" altLang="zh-CN" sz="2000" dirty="0">
                <a:latin typeface="Courier New" panose="02070309020205020404" pitchFamily="49" charset="0"/>
              </a:rPr>
              <a:t> 	$s0, $0, 4     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# $s0 = 4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</a:rPr>
              <a:t>addi</a:t>
            </a:r>
            <a:r>
              <a:rPr lang="en-US" altLang="zh-CN" sz="2000" dirty="0">
                <a:latin typeface="Courier New" panose="02070309020205020404" pitchFamily="49" charset="0"/>
              </a:rPr>
              <a:t> 	$s1, $0, 1     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# $s1 = 1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j</a:t>
            </a:r>
            <a:r>
              <a:rPr lang="en-US" altLang="zh-CN" sz="2000" dirty="0">
                <a:latin typeface="Courier New" panose="02070309020205020404" pitchFamily="49" charset="0"/>
              </a:rPr>
              <a:t>    	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target</a:t>
            </a:r>
            <a:r>
              <a:rPr lang="en-US" altLang="zh-CN" sz="2000" dirty="0">
                <a:latin typeface="Courier New" panose="02070309020205020404" pitchFamily="49" charset="0"/>
              </a:rPr>
              <a:t>      	 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# jump to target</a:t>
            </a:r>
            <a:endParaRPr lang="en-US" altLang="zh-CN" sz="20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</a:rPr>
              <a:t>sra</a:t>
            </a:r>
            <a:r>
              <a:rPr lang="en-US" altLang="zh-CN" sz="2000" dirty="0">
                <a:latin typeface="Courier New" panose="02070309020205020404" pitchFamily="49" charset="0"/>
              </a:rPr>
              <a:t>  	$s1, $s1, 2 	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# not executed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</a:rPr>
              <a:t>addi</a:t>
            </a:r>
            <a:r>
              <a:rPr lang="en-US" altLang="zh-CN" sz="2000" dirty="0">
                <a:latin typeface="Courier New" panose="02070309020205020404" pitchFamily="49" charset="0"/>
              </a:rPr>
              <a:t> 	$s1, $s1, 1 	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# not executed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</a:rPr>
              <a:t>sub</a:t>
            </a:r>
            <a:r>
              <a:rPr lang="en-US" altLang="zh-CN" sz="2000" dirty="0">
                <a:latin typeface="Courier New" panose="02070309020205020404" pitchFamily="49" charset="0"/>
              </a:rPr>
              <a:t>  	$s1, $s1, $s0 </a:t>
            </a:r>
            <a:r>
              <a:rPr lang="en-US" altLang="zh-CN" sz="1100" dirty="0">
                <a:latin typeface="Courier New" panose="02070309020205020404" pitchFamily="49" charset="0"/>
              </a:rPr>
              <a:t>   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# not executed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  <a:buFontTx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target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: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</a:rPr>
              <a:t>add</a:t>
            </a:r>
            <a:r>
              <a:rPr lang="en-US" altLang="zh-CN" sz="2000" dirty="0">
                <a:latin typeface="Courier New" panose="02070309020205020404" pitchFamily="49" charset="0"/>
              </a:rPr>
              <a:t>  	$s1, $s1, $s0 	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# $s1 = 1 + 4 =5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54869" y="966297"/>
            <a:ext cx="1659429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j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 label</a:t>
            </a:r>
            <a:endParaRPr lang="zh-CN" altLang="en-US" sz="2400" b="1" dirty="0"/>
          </a:p>
        </p:txBody>
      </p:sp>
      <p:sp>
        <p:nvSpPr>
          <p:cNvPr id="9" name="矩形 8"/>
          <p:cNvSpPr/>
          <p:nvPr/>
        </p:nvSpPr>
        <p:spPr>
          <a:xfrm>
            <a:off x="5655386" y="954945"/>
            <a:ext cx="15359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Jump </a:t>
            </a:r>
            <a:r>
              <a:rPr lang="zh-CN" altLang="en-US" sz="2400" dirty="0"/>
              <a:t>跳转</a:t>
            </a:r>
            <a:endParaRPr lang="zh-CN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3254869" y="1681106"/>
            <a:ext cx="1659429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jr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rs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  </a:t>
            </a:r>
            <a:endParaRPr lang="zh-CN" altLang="en-US" sz="2400" b="1" dirty="0"/>
          </a:p>
        </p:txBody>
      </p:sp>
      <p:sp>
        <p:nvSpPr>
          <p:cNvPr id="12" name="矩形 11"/>
          <p:cNvSpPr/>
          <p:nvPr/>
        </p:nvSpPr>
        <p:spPr>
          <a:xfrm>
            <a:off x="5655387" y="1669754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跳转到寄存器所保存的地址</a:t>
            </a:r>
            <a:endParaRPr lang="zh-CN" altLang="en-US" sz="24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3600" b="1" dirty="0"/>
              <a:t>⑦ 设置小于指令</a:t>
            </a:r>
            <a:endParaRPr lang="zh-CN" altLang="en-US" sz="3600" b="1" dirty="0"/>
          </a:p>
        </p:txBody>
      </p:sp>
      <p:sp>
        <p:nvSpPr>
          <p:cNvPr id="8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88074" y="2472656"/>
            <a:ext cx="3581400" cy="3025966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 Code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// add the powers of 2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//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from 1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to 100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sum = 0;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for (</a:t>
            </a: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=1; </a:t>
            </a: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&lt; 101; </a:t>
            </a: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*2) 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{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 sum = sum + </a:t>
            </a: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}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78774" y="1189996"/>
            <a:ext cx="2949846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slt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rd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, 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rs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, </a:t>
            </a:r>
            <a:r>
              <a:rPr lang="en-US" altLang="zh-CN" sz="24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rt</a:t>
            </a:r>
            <a:r>
              <a:rPr lang="en-US" altLang="zh-CN" sz="24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386003" y="1186585"/>
            <a:ext cx="3850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[</a:t>
            </a:r>
            <a:r>
              <a:rPr lang="en-US" altLang="zh-CN" sz="2800" dirty="0" err="1"/>
              <a:t>rs</a:t>
            </a:r>
            <a:r>
              <a:rPr lang="en-US" altLang="zh-CN" sz="2800" dirty="0"/>
              <a:t>] &lt; [</a:t>
            </a:r>
            <a:r>
              <a:rPr lang="en-US" altLang="zh-CN" sz="2800" dirty="0" err="1"/>
              <a:t>rt</a:t>
            </a:r>
            <a:r>
              <a:rPr lang="en-US" altLang="zh-CN" sz="2800" dirty="0"/>
              <a:t>] ? [</a:t>
            </a:r>
            <a:r>
              <a:rPr lang="en-US" altLang="zh-CN" sz="2800" dirty="0" err="1"/>
              <a:t>rd</a:t>
            </a:r>
            <a:r>
              <a:rPr lang="en-US" altLang="zh-CN" sz="2800" dirty="0"/>
              <a:t>]=1 : [</a:t>
            </a:r>
            <a:r>
              <a:rPr lang="en-US" altLang="zh-CN" sz="2800" dirty="0" err="1"/>
              <a:t>rd</a:t>
            </a:r>
            <a:r>
              <a:rPr lang="en-US" altLang="zh-CN" sz="2800" dirty="0"/>
              <a:t>]=0</a:t>
            </a:r>
            <a:endParaRPr lang="zh-CN" altLang="en-US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8299128" y="134390"/>
            <a:ext cx="2010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s</a:t>
            </a:r>
            <a:r>
              <a:rPr lang="en-US" altLang="zh-CN" sz="2800" dirty="0"/>
              <a:t>et </a:t>
            </a:r>
            <a:r>
              <a:rPr lang="en-US" altLang="zh-CN" sz="2800" b="1" dirty="0">
                <a:solidFill>
                  <a:srgbClr val="FF0000"/>
                </a:solidFill>
              </a:rPr>
              <a:t>l</a:t>
            </a:r>
            <a:r>
              <a:rPr lang="en-US" altLang="zh-CN" sz="2800" dirty="0"/>
              <a:t>ess </a:t>
            </a:r>
            <a:r>
              <a:rPr lang="en-US" altLang="zh-CN" sz="2800" b="1" dirty="0">
                <a:solidFill>
                  <a:srgbClr val="FF0000"/>
                </a:solidFill>
              </a:rPr>
              <a:t>t</a:t>
            </a:r>
            <a:r>
              <a:rPr lang="en-US" altLang="zh-CN" sz="2800" dirty="0"/>
              <a:t>han</a:t>
            </a:r>
            <a:endParaRPr lang="zh-CN" altLang="en-US" sz="2800" dirty="0"/>
          </a:p>
        </p:txBody>
      </p:sp>
      <p:grpSp>
        <p:nvGrpSpPr>
          <p:cNvPr id="3" name="组合 2"/>
          <p:cNvGrpSpPr/>
          <p:nvPr/>
        </p:nvGrpSpPr>
        <p:grpSpPr>
          <a:xfrm>
            <a:off x="4681182" y="2049657"/>
            <a:ext cx="6622744" cy="4614315"/>
            <a:chOff x="4681182" y="2049657"/>
            <a:chExt cx="6622744" cy="4614315"/>
          </a:xfrm>
        </p:grpSpPr>
        <p:sp>
          <p:nvSpPr>
            <p:cNvPr id="9" name="Rectangle 6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599742" y="2049657"/>
              <a:ext cx="5704184" cy="461431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lnSpc>
                  <a:spcPct val="130000"/>
                </a:lnSpc>
              </a:pPr>
              <a:r>
                <a:rPr lang="en-US" sz="20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MIPS assembly code</a:t>
              </a:r>
              <a:endPara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130000"/>
                </a:lnSpc>
              </a:pP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$s0 = </a:t>
              </a:r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i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, $s1 = sum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130000"/>
                </a:lnSpc>
              </a:pPr>
              <a:r>
                <a:rPr lang="en-US" altLang="zh-CN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  </a:t>
              </a:r>
              <a:r>
                <a:rPr lang="en-US" altLang="zh-CN" sz="1600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addi</a:t>
              </a:r>
              <a:r>
                <a:rPr lang="en-US" altLang="zh-CN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$s0, $0, 1     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i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=1</a:t>
              </a:r>
              <a:endParaRPr lang="en-US" sz="1600" dirty="0"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130000"/>
                </a:lnSpc>
              </a:pPr>
              <a:r>
                <a:rPr lang="en-US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  </a:t>
              </a:r>
              <a:r>
                <a:rPr lang="en-US" sz="1600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addi</a:t>
              </a:r>
              <a:r>
                <a:rPr lang="en-US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$s1, $0, 0      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sum=0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130000"/>
                </a:lnSpc>
              </a:pPr>
              <a:r>
                <a:rPr lang="en-US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  </a:t>
              </a:r>
              <a:r>
                <a:rPr lang="en-US" sz="1600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addi</a:t>
              </a:r>
              <a:r>
                <a:rPr lang="en-US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$t0, $0, 101    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</a:t>
              </a:r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$t0=101</a:t>
              </a:r>
              <a:endPara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130000"/>
                </a:lnSpc>
              </a:pPr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loop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:  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130000"/>
                </a:lnSpc>
              </a:pPr>
              <a:r>
                <a:rPr lang="en-US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  </a:t>
              </a:r>
              <a:r>
                <a:rPr lang="en-US" sz="1600" b="1" dirty="0" err="1">
                  <a:solidFill>
                    <a:srgbClr val="FF0000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slt</a:t>
              </a:r>
              <a:r>
                <a:rPr lang="en-US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 $t1, $s0, $t0   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if(</a:t>
              </a:r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i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&lt;101) $t1=1,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130000"/>
                </a:lnSpc>
              </a:pP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                       # else      $t1=0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130000"/>
                </a:lnSpc>
              </a:pPr>
              <a:r>
                <a:rPr lang="en-US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  </a:t>
              </a:r>
              <a:r>
                <a:rPr lang="en-US" sz="1600" b="1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beq</a:t>
              </a:r>
              <a:r>
                <a:rPr lang="en-US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 $t1, $0, </a:t>
              </a:r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done</a:t>
              </a:r>
              <a:r>
                <a:rPr lang="en-US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  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if $t1==0(</a:t>
              </a:r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i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&gt;=101)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130000"/>
                </a:lnSpc>
              </a:pP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                       # branch to done.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130000"/>
                </a:lnSpc>
              </a:pPr>
              <a:r>
                <a:rPr lang="en-US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  </a:t>
              </a:r>
              <a:r>
                <a:rPr lang="en-US" sz="1600" dirty="0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add</a:t>
              </a:r>
              <a:r>
                <a:rPr lang="en-US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 $s1, $s1, $s0   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sum=</a:t>
              </a:r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sum+i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130000"/>
                </a:lnSpc>
              </a:pPr>
              <a:r>
                <a:rPr lang="en-US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  </a:t>
              </a:r>
              <a:r>
                <a:rPr lang="en-US" sz="1600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sll</a:t>
              </a:r>
              <a:r>
                <a:rPr lang="en-US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 $s0, $s0, 1     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</a:t>
              </a:r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i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=</a:t>
              </a:r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i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*2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130000"/>
                </a:lnSpc>
              </a:pPr>
              <a:r>
                <a:rPr lang="en-US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  </a:t>
              </a:r>
              <a:r>
                <a:rPr lang="en-US" sz="1600" dirty="0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Courier New" panose="02070309020205020404" pitchFamily="49" charset="0"/>
                  <a:cs typeface="Arial" panose="020B0604020202020204" pitchFamily="34" charset="0"/>
                </a:rPr>
                <a:t>    </a:t>
              </a:r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loop</a:t>
              </a:r>
              <a:endPara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lnSpc>
                  <a:spcPct val="130000"/>
                </a:lnSpc>
              </a:pPr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done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: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7" name="箭头: 右 6"/>
            <p:cNvSpPr/>
            <p:nvPr/>
          </p:nvSpPr>
          <p:spPr>
            <a:xfrm>
              <a:off x="4681182" y="3825922"/>
              <a:ext cx="773373" cy="495869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52242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CN" sz="3600" b="1" dirty="0"/>
              <a:t>if </a:t>
            </a:r>
            <a:r>
              <a:rPr lang="zh-CN" altLang="en-US" sz="3600" b="1" dirty="0"/>
              <a:t>语句</a:t>
            </a:r>
            <a:endParaRPr lang="zh-CN" altLang="en-US" sz="3600" b="1" dirty="0"/>
          </a:p>
        </p:txBody>
      </p:sp>
      <p:sp>
        <p:nvSpPr>
          <p:cNvPr id="5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47435" y="1816722"/>
            <a:ext cx="2196099" cy="2628684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 Code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0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0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latin typeface="Courier New" panose="02070309020205020404" pitchFamily="49" charset="0"/>
                <a:cs typeface="Arial" panose="020B0604020202020204" pitchFamily="34" charset="0"/>
              </a:rPr>
              <a:t>if (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== j</a:t>
            </a:r>
            <a:r>
              <a:rPr lang="en-US" sz="2000" dirty="0">
                <a:latin typeface="Courier New" panose="02070309020205020404" pitchFamily="49" charset="0"/>
                <a:cs typeface="Arial" panose="020B0604020202020204" pitchFamily="34" charset="0"/>
              </a:rPr>
              <a:t>)</a:t>
            </a:r>
            <a:endParaRPr lang="en-US" sz="20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latin typeface="Courier New" panose="02070309020205020404" pitchFamily="49" charset="0"/>
                <a:cs typeface="Arial" panose="020B0604020202020204" pitchFamily="34" charset="0"/>
              </a:rPr>
              <a:t>  f = g + h;</a:t>
            </a:r>
            <a:endParaRPr lang="en-US" sz="20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endParaRPr lang="en-US" sz="20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latin typeface="Courier New" panose="02070309020205020404" pitchFamily="49" charset="0"/>
                <a:cs typeface="Arial" panose="020B0604020202020204" pitchFamily="34" charset="0"/>
              </a:rPr>
              <a:t>  f = f – </a:t>
            </a:r>
            <a:r>
              <a:rPr lang="en-US" sz="2000" dirty="0" err="1"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Arial" panose="020B0604020202020204" pitchFamily="34" charset="0"/>
              </a:rPr>
              <a:t>;</a:t>
            </a:r>
            <a:endParaRPr lang="en-US" sz="2000" dirty="0"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353089" y="1761346"/>
            <a:ext cx="7305511" cy="3715956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130000"/>
              </a:lnSpc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MIPS assembly code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$s0 = f, $s1 = g, $s2 = h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$s3 = 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$s4 = j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2000" dirty="0"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bne</a:t>
            </a:r>
            <a:r>
              <a:rPr lang="en-US" sz="2000" dirty="0">
                <a:latin typeface="Courier New" panose="02070309020205020404" pitchFamily="49" charset="0"/>
                <a:cs typeface="Arial" panose="020B0604020202020204" pitchFamily="34" charset="0"/>
              </a:rPr>
              <a:t> $s3, $s4, </a:t>
            </a:r>
            <a:r>
              <a:rPr lang="en-US" altLang="zh-CN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r>
              <a:rPr lang="en-US" altLang="zh-CN" sz="2000" dirty="0">
                <a:latin typeface="Courier New" panose="02070309020205020404" pitchFamily="49" charset="0"/>
                <a:cs typeface="Arial" panose="020B0604020202020204" pitchFamily="34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#if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!=j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, branch to else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2000" dirty="0"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add</a:t>
            </a:r>
            <a:r>
              <a:rPr lang="en-US" sz="2000" dirty="0">
                <a:latin typeface="Courier New" panose="02070309020205020404" pitchFamily="49" charset="0"/>
                <a:cs typeface="Arial" panose="020B0604020202020204" pitchFamily="34" charset="0"/>
              </a:rPr>
              <a:t> $s0, $s1, $s2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#if block: f = g + h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2000" dirty="0"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j</a:t>
            </a:r>
            <a:r>
              <a:rPr lang="en-US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done  </a:t>
            </a:r>
            <a:r>
              <a:rPr lang="en-US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#skip past the else block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:  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2000" dirty="0"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sub</a:t>
            </a:r>
            <a:r>
              <a:rPr lang="en-US" sz="2000" dirty="0">
                <a:latin typeface="Courier New" panose="02070309020205020404" pitchFamily="49" charset="0"/>
                <a:cs typeface="Arial" panose="020B0604020202020204" pitchFamily="34" charset="0"/>
              </a:rPr>
              <a:t> $s0, $s0, $s3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#else block: f = f -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done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: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083829" y="2689094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（反着写）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箭头: 右 7"/>
          <p:cNvSpPr/>
          <p:nvPr/>
        </p:nvSpPr>
        <p:spPr>
          <a:xfrm>
            <a:off x="3361625" y="3113219"/>
            <a:ext cx="773373" cy="495869"/>
          </a:xfrm>
          <a:prstGeom prst="right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626"/>
            <a:ext cx="12192000" cy="752242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CN" sz="4000" b="1" dirty="0"/>
              <a:t>while </a:t>
            </a:r>
            <a:r>
              <a:rPr lang="zh-CN" altLang="en-US" sz="4000" b="1" dirty="0"/>
              <a:t>语句</a:t>
            </a:r>
            <a:endParaRPr lang="en-US" altLang="zh-CN" sz="4000" b="1" dirty="0"/>
          </a:p>
        </p:txBody>
      </p:sp>
      <p:sp>
        <p:nvSpPr>
          <p:cNvPr id="8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51984" y="2078357"/>
            <a:ext cx="3372081" cy="3165512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 Code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// determines the power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// of x such that 2</a:t>
            </a:r>
            <a:r>
              <a:rPr lang="en-US" sz="1600" b="1" baseline="30000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x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= 128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pow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= 1;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x   = 0;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b="1" dirty="0">
                <a:latin typeface="Courier New" panose="02070309020205020404" pitchFamily="49" charset="0"/>
                <a:cs typeface="Arial" panose="020B0604020202020204" pitchFamily="34" charset="0"/>
              </a:rPr>
              <a:t>while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(</a:t>
            </a:r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pow != 128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) 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{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pow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pow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* 2;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 x = x + 1;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}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705751" y="1551297"/>
            <a:ext cx="6126858" cy="4503760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130000"/>
              </a:lnSpc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MIPS assembly code</a:t>
            </a:r>
            <a:endParaRPr lang="en-US" sz="2400" b="1" dirty="0">
              <a:solidFill>
                <a:schemeClr val="accent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$s0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pow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, $s1 = x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endParaRPr lang="en-US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      </a:t>
            </a:r>
            <a:r>
              <a:rPr lang="en-US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addi</a:t>
            </a: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$s0, $0, 1   	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pow=1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      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add</a:t>
            </a: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 $s1, $0, $0  	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x=0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      </a:t>
            </a:r>
            <a:r>
              <a:rPr lang="en-US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addi</a:t>
            </a: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$t0, $0, 128 	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t0=128</a:t>
            </a:r>
            <a:endParaRPr 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while:</a:t>
            </a: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beq</a:t>
            </a: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 $s0, $t0,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done</a:t>
            </a: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if 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pow==128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,</a:t>
            </a:r>
            <a:b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</a:b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                      	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exit while loop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      </a:t>
            </a:r>
            <a:r>
              <a:rPr lang="en-US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sll</a:t>
            </a: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 $s0, $s0, 1  	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pow=pow*2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      </a:t>
            </a:r>
            <a:r>
              <a:rPr lang="en-US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addi</a:t>
            </a: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$s1, $s1, 1  	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x=x+1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      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j</a:t>
            </a:r>
            <a:r>
              <a:rPr lang="en-US" dirty="0">
                <a:latin typeface="Courier New" panose="02070309020205020404" pitchFamily="49" charset="0"/>
                <a:cs typeface="Arial" panose="020B0604020202020204" pitchFamily="34" charset="0"/>
              </a:rPr>
              <a:t>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while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done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: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  <p:sp>
        <p:nvSpPr>
          <p:cNvPr id="7" name="箭头: 右 6"/>
          <p:cNvSpPr/>
          <p:nvPr/>
        </p:nvSpPr>
        <p:spPr>
          <a:xfrm>
            <a:off x="4578221" y="3661113"/>
            <a:ext cx="773373" cy="495869"/>
          </a:xfrm>
          <a:prstGeom prst="right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CN" sz="3600" b="1" dirty="0"/>
              <a:t>for </a:t>
            </a:r>
            <a:r>
              <a:rPr lang="zh-CN" altLang="en-US" sz="3600" b="1" dirty="0"/>
              <a:t>语句</a:t>
            </a:r>
            <a:endParaRPr lang="en-US" altLang="zh-CN" sz="3600" b="1" dirty="0"/>
          </a:p>
        </p:txBody>
      </p:sp>
      <p:sp>
        <p:nvSpPr>
          <p:cNvPr id="8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36336" y="2430400"/>
            <a:ext cx="3955973" cy="2618342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 Code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// add the numbers from 0 to 9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sum = 0;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b="1" dirty="0">
                <a:latin typeface="Courier New" panose="02070309020205020404" pitchFamily="49" charset="0"/>
                <a:cs typeface="Arial" panose="020B0604020202020204" pitchFamily="34" charset="0"/>
              </a:rPr>
              <a:t>for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(</a:t>
            </a: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=0; </a:t>
            </a:r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!=10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; </a:t>
            </a: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= i+1) 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{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 sum = sum + </a:t>
            </a:r>
            <a:r>
              <a:rPr lang="en-US" sz="1600" dirty="0" err="1"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}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0" y="1772676"/>
            <a:ext cx="5257800" cy="4032172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130000"/>
              </a:lnSpc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MIPS assembly code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$s0 =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, $s1 = sum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n-US" sz="1600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addi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$s1, $0, 0  		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sum=0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n-US" sz="1600" dirty="0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add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 $s0, $0, $0 		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=0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n-US" sz="1600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addi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$t0, $0, 10 		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$t0=10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for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:   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n-US" sz="1600" b="1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beq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 $s0, $t0,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done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	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if </a:t>
            </a:r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==10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,</a:t>
            </a:r>
            <a:b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</a:b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                   	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 to done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n-US" sz="1600" dirty="0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add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 $s1, $s1, $s0  	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sum=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sum+i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n-US" sz="1600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addi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$s0, $s0, 1    	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# increment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n-US" sz="1600" dirty="0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j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for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done</a:t>
            </a:r>
            <a:r>
              <a:rPr lang="en-US" sz="1600" dirty="0">
                <a:latin typeface="Courier New" panose="02070309020205020404" pitchFamily="49" charset="0"/>
                <a:cs typeface="Arial" panose="020B0604020202020204" pitchFamily="34" charset="0"/>
              </a:rPr>
              <a:t>:</a:t>
            </a:r>
            <a:endParaRPr lang="en-US" sz="1600" dirty="0"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  <p:sp>
        <p:nvSpPr>
          <p:cNvPr id="7" name="箭头: 右 6"/>
          <p:cNvSpPr/>
          <p:nvPr/>
        </p:nvSpPr>
        <p:spPr>
          <a:xfrm>
            <a:off x="5007468" y="3620170"/>
            <a:ext cx="773373" cy="495869"/>
          </a:xfrm>
          <a:prstGeom prst="right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560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CN" sz="4000" b="1" dirty="0"/>
              <a:t>MIPS </a:t>
            </a:r>
            <a:r>
              <a:rPr lang="zh-CN" altLang="en-US" sz="4000" b="1" dirty="0"/>
              <a:t>寻址方式</a:t>
            </a:r>
            <a:endParaRPr lang="zh-CN" altLang="en-US" sz="4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398510" y="1077729"/>
                <a:ext cx="8205930" cy="5539189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ea"/>
                  <a:buAutoNum type="circleNumDbPlain"/>
                </a:pPr>
                <a:r>
                  <a:rPr lang="zh-CN" altLang="en-US" b="1" dirty="0">
                    <a:solidFill>
                      <a:srgbClr val="0070C0"/>
                    </a:solidFill>
                  </a:rPr>
                  <a:t>寄存器</a:t>
                </a:r>
                <a:r>
                  <a:rPr lang="zh-CN" altLang="en-US" b="1" dirty="0"/>
                  <a:t>寻址</a:t>
                </a:r>
                <a:r>
                  <a:rPr lang="zh-CN" altLang="en-US" dirty="0"/>
                  <a:t>：</a:t>
                </a:r>
                <a:r>
                  <a:rPr lang="zh-CN" altLang="en-US" sz="2400" dirty="0"/>
                  <a:t>寄存器（源操作数、目的操作数）</a:t>
                </a:r>
                <a:br>
                  <a:rPr lang="en-US" altLang="zh-CN" sz="2400" dirty="0"/>
                </a:br>
                <a:r>
                  <a:rPr lang="en-US" altLang="zh-CN" sz="2400" dirty="0"/>
                  <a:t>                               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所有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R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指令。如，</a:t>
                </a:r>
                <a:r>
                  <a:rPr lang="en-US" altLang="zh-CN" sz="2400" dirty="0">
                    <a:solidFill>
                      <a:srgbClr val="0070C0"/>
                    </a:solidFill>
                  </a:rPr>
                  <a:t>add</a:t>
                </a:r>
                <a:r>
                  <a:rPr lang="en-US" altLang="zh-CN" sz="2400" dirty="0"/>
                  <a:t> </a:t>
                </a:r>
                <a:r>
                  <a:rPr lang="en-US" altLang="zh-CN" sz="2400" dirty="0" err="1"/>
                  <a:t>rd</a:t>
                </a:r>
                <a:r>
                  <a:rPr lang="en-US" altLang="zh-CN" sz="2400" dirty="0"/>
                  <a:t>, </a:t>
                </a:r>
                <a:r>
                  <a:rPr lang="en-US" altLang="zh-CN" sz="2400" dirty="0" err="1"/>
                  <a:t>rs</a:t>
                </a:r>
                <a:r>
                  <a:rPr lang="en-US" altLang="zh-CN" sz="2400" dirty="0"/>
                  <a:t>, </a:t>
                </a:r>
                <a:r>
                  <a:rPr lang="en-US" altLang="zh-CN" sz="2400" dirty="0" err="1"/>
                  <a:t>rt</a:t>
                </a:r>
                <a:endParaRPr lang="en-US" altLang="zh-CN" sz="2400" dirty="0"/>
              </a:p>
              <a:p>
                <a:pPr marL="514350" indent="-514350">
                  <a:lnSpc>
                    <a:spcPct val="120000"/>
                  </a:lnSpc>
                  <a:buFont typeface="+mj-ea"/>
                  <a:buAutoNum type="circleNumDbPlain"/>
                </a:pPr>
                <a:r>
                  <a:rPr lang="zh-CN" altLang="en-US" b="1" dirty="0">
                    <a:solidFill>
                      <a:srgbClr val="0070C0"/>
                    </a:solidFill>
                  </a:rPr>
                  <a:t>立即数</a:t>
                </a:r>
                <a:r>
                  <a:rPr lang="zh-CN" altLang="en-US" b="1" dirty="0"/>
                  <a:t>寻址</a:t>
                </a:r>
                <a:r>
                  <a:rPr lang="zh-CN" altLang="en-US" dirty="0"/>
                  <a:t>：</a:t>
                </a:r>
                <a:r>
                  <a:rPr lang="en-US" altLang="zh-CN" sz="2400" b="1" dirty="0">
                    <a:solidFill>
                      <a:schemeClr val="bg1">
                        <a:lumMod val="50000"/>
                      </a:schemeClr>
                    </a:solidFill>
                  </a:rPr>
                  <a:t>16</a:t>
                </a:r>
                <a:r>
                  <a:rPr lang="zh-CN" altLang="en-US" sz="2400" b="1" dirty="0">
                    <a:solidFill>
                      <a:schemeClr val="bg1">
                        <a:lumMod val="50000"/>
                      </a:schemeClr>
                    </a:solidFill>
                  </a:rPr>
                  <a:t>位</a:t>
                </a:r>
                <a:r>
                  <a:rPr lang="zh-CN" altLang="en-US" sz="2400" dirty="0"/>
                  <a:t>立即数</a:t>
                </a:r>
                <a:br>
                  <a:rPr lang="en-US" altLang="zh-CN" sz="2400" dirty="0"/>
                </a:br>
                <a:r>
                  <a:rPr lang="en-US" altLang="zh-CN" sz="2400" dirty="0"/>
                  <a:t>                               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有些</a:t>
                </a:r>
                <a:r>
                  <a:rPr lang="en-US" altLang="zh-CN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指令，如，</a:t>
                </a:r>
                <a:r>
                  <a:rPr lang="en-US" altLang="zh-CN" sz="2400" dirty="0" err="1">
                    <a:solidFill>
                      <a:srgbClr val="0070C0"/>
                    </a:solidFill>
                  </a:rPr>
                  <a:t>addi</a:t>
                </a:r>
                <a:r>
                  <a:rPr lang="en-US" altLang="zh-CN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2400" dirty="0" err="1"/>
                  <a:t>rt</a:t>
                </a:r>
                <a:r>
                  <a:rPr lang="en-US" altLang="zh-CN" sz="2400" dirty="0"/>
                  <a:t>, </a:t>
                </a:r>
                <a:r>
                  <a:rPr lang="en-US" altLang="zh-CN" sz="2400" dirty="0" err="1"/>
                  <a:t>rs</a:t>
                </a:r>
                <a:r>
                  <a:rPr lang="en-US" altLang="zh-CN" sz="2400" dirty="0"/>
                  <a:t>, </a:t>
                </a:r>
                <a:r>
                  <a:rPr lang="en-US" altLang="zh-CN" sz="2400" dirty="0" err="1"/>
                  <a:t>imm</a:t>
                </a:r>
                <a:endParaRPr lang="en-US" altLang="zh-CN" sz="2400" dirty="0"/>
              </a:p>
              <a:p>
                <a:pPr marL="514350" indent="-514350">
                  <a:lnSpc>
                    <a:spcPct val="120000"/>
                  </a:lnSpc>
                  <a:buFont typeface="+mj-ea"/>
                  <a:buAutoNum type="circleNumDbPlain"/>
                </a:pPr>
                <a:r>
                  <a:rPr lang="zh-CN" altLang="en-US" b="1" dirty="0">
                    <a:solidFill>
                      <a:srgbClr val="0070C0"/>
                    </a:solidFill>
                  </a:rPr>
                  <a:t>基地址</a:t>
                </a:r>
                <a:r>
                  <a:rPr lang="zh-CN" altLang="en-US" b="1" dirty="0"/>
                  <a:t>寻址</a:t>
                </a:r>
                <a:r>
                  <a:rPr lang="zh-CN" altLang="en-US" dirty="0"/>
                  <a:t>：</a:t>
                </a:r>
                <a:r>
                  <a:rPr lang="zh-CN" altLang="en-US" sz="2400" dirty="0"/>
                  <a:t>存储器地址 </a:t>
                </a:r>
                <a:r>
                  <a:rPr lang="en-US" altLang="zh-CN" sz="2400" dirty="0"/>
                  <a:t>= </a:t>
                </a:r>
                <a:r>
                  <a:rPr lang="zh-CN" altLang="en-US" sz="2400" dirty="0"/>
                  <a:t>基地址 </a:t>
                </a:r>
                <a:r>
                  <a:rPr lang="en-US" altLang="zh-CN" sz="2400" dirty="0"/>
                  <a:t>+ </a:t>
                </a:r>
                <a:r>
                  <a:rPr lang="zh-CN" altLang="en-US" sz="2400" dirty="0"/>
                  <a:t>立即数</a:t>
                </a:r>
                <a:r>
                  <a:rPr lang="zh-CN" altLang="en-US" sz="2200" dirty="0"/>
                  <a:t>扩展后</a:t>
                </a:r>
                <a:br>
                  <a:rPr lang="en-US" altLang="zh-CN" sz="2400" dirty="0"/>
                </a:br>
                <a:r>
                  <a:rPr lang="en-US" altLang="zh-CN" sz="2400" dirty="0"/>
                  <a:t>                                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存储器访问指令，如，</a:t>
                </a:r>
                <a:r>
                  <a:rPr lang="en-US" altLang="zh-CN" sz="2400" dirty="0" err="1">
                    <a:solidFill>
                      <a:srgbClr val="0070C0"/>
                    </a:solidFill>
                  </a:rPr>
                  <a:t>lw</a:t>
                </a:r>
                <a:r>
                  <a:rPr lang="en-US" altLang="zh-CN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2400" dirty="0" err="1"/>
                  <a:t>rt</a:t>
                </a:r>
                <a:r>
                  <a:rPr lang="en-US" altLang="zh-CN" sz="2400" dirty="0"/>
                  <a:t>, </a:t>
                </a:r>
                <a:r>
                  <a:rPr lang="en-US" altLang="zh-CN" sz="2400" dirty="0" err="1"/>
                  <a:t>imm</a:t>
                </a:r>
                <a:r>
                  <a:rPr lang="en-US" altLang="zh-CN" sz="2400" dirty="0"/>
                  <a:t>(</a:t>
                </a:r>
                <a:r>
                  <a:rPr lang="en-US" altLang="zh-CN" sz="2400" dirty="0" err="1"/>
                  <a:t>rs</a:t>
                </a:r>
                <a:r>
                  <a:rPr lang="en-US" altLang="zh-CN" sz="2400" dirty="0"/>
                  <a:t>)</a:t>
                </a:r>
                <a:endParaRPr lang="en-US" altLang="zh-CN" dirty="0"/>
              </a:p>
              <a:p>
                <a:pPr marL="514350" indent="-514350">
                  <a:lnSpc>
                    <a:spcPct val="120000"/>
                  </a:lnSpc>
                  <a:buFont typeface="+mj-ea"/>
                  <a:buAutoNum type="circleNumDbPlain"/>
                </a:pPr>
                <a:r>
                  <a:rPr lang="en-US" altLang="zh-CN" b="1" dirty="0">
                    <a:solidFill>
                      <a:srgbClr val="0070C0"/>
                    </a:solidFill>
                  </a:rPr>
                  <a:t>PC</a:t>
                </a:r>
                <a:r>
                  <a:rPr lang="zh-CN" altLang="en-US" b="1" dirty="0">
                    <a:solidFill>
                      <a:srgbClr val="0070C0"/>
                    </a:solidFill>
                  </a:rPr>
                  <a:t>相对</a:t>
                </a:r>
                <a:r>
                  <a:rPr lang="zh-CN" altLang="en-US" b="1" dirty="0"/>
                  <a:t>寻址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PC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PC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CN" altLang="en-US" sz="2400" dirty="0"/>
                  <a:t> 立即数符号扩展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br>
                  <a:rPr lang="en-US" altLang="zh-CN" sz="1700" dirty="0">
                    <a:solidFill>
                      <a:srgbClr val="0070C0"/>
                    </a:solidFill>
                  </a:rPr>
                </a:br>
                <a:r>
                  <a:rPr lang="en-US" altLang="zh-CN" sz="2400" dirty="0"/>
                  <a:t>                                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条件分支指令，如，</a:t>
                </a:r>
                <a:r>
                  <a:rPr lang="en-US" altLang="zh-CN" sz="2400" dirty="0" err="1">
                    <a:solidFill>
                      <a:srgbClr val="0070C0"/>
                    </a:solidFill>
                  </a:rPr>
                  <a:t>beq</a:t>
                </a:r>
                <a:r>
                  <a:rPr lang="en-US" altLang="zh-CN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2400" dirty="0" err="1"/>
                  <a:t>rs</a:t>
                </a:r>
                <a:r>
                  <a:rPr lang="en-US" altLang="zh-CN" sz="2400" dirty="0"/>
                  <a:t>, </a:t>
                </a:r>
                <a:r>
                  <a:rPr lang="en-US" altLang="zh-CN" sz="2400" dirty="0" err="1"/>
                  <a:t>rt</a:t>
                </a:r>
                <a:r>
                  <a:rPr lang="en-US" altLang="zh-CN" sz="2400" dirty="0"/>
                  <a:t>, label</a:t>
                </a:r>
                <a:endParaRPr lang="en-US" altLang="zh-CN" sz="2400" dirty="0"/>
              </a:p>
              <a:p>
                <a:pPr marL="514350" indent="-514350">
                  <a:lnSpc>
                    <a:spcPct val="120000"/>
                  </a:lnSpc>
                  <a:buFont typeface="+mj-ea"/>
                  <a:buAutoNum type="circleNumDbPlain"/>
                </a:pPr>
                <a:r>
                  <a:rPr lang="zh-CN" altLang="en-US" b="1" dirty="0">
                    <a:solidFill>
                      <a:srgbClr val="0070C0"/>
                    </a:solidFill>
                  </a:rPr>
                  <a:t>伪直接</a:t>
                </a:r>
                <a:r>
                  <a:rPr lang="zh-CN" altLang="en-US" b="1" dirty="0"/>
                  <a:t>寻址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dirty="0">
                            <a:latin typeface="Cambria Math" panose="02040503050406030204" pitchFamily="18" charset="0"/>
                          </a:rPr>
                          <m:t>PC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{(</m:t>
                    </m:r>
                    <m:r>
                      <m:rPr>
                        <m:sty m:val="p"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PC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31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28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],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 dirty="0" err="1">
                        <a:latin typeface="Cambria Math" panose="02040503050406030204" pitchFamily="18" charset="0"/>
                      </a:rPr>
                      <m:t>𝒂𝒅𝒅𝒓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400" dirty="0"/>
                  <a:t> </a:t>
                </a:r>
                <a:br>
                  <a:rPr lang="en-US" altLang="zh-CN" sz="2200" dirty="0"/>
                </a:br>
                <a:r>
                  <a:rPr lang="en-US" altLang="zh-CN" sz="2400" dirty="0"/>
                  <a:t>                                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跳转指令，如，</a:t>
                </a:r>
                <a:r>
                  <a:rPr lang="en-US" altLang="zh-CN" sz="2400" dirty="0">
                    <a:solidFill>
                      <a:srgbClr val="0070C0"/>
                    </a:solidFill>
                  </a:rPr>
                  <a:t>j</a:t>
                </a:r>
                <a:r>
                  <a:rPr lang="en-US" altLang="zh-CN" sz="2400" dirty="0"/>
                  <a:t> label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98510" y="1077729"/>
                <a:ext cx="8205930" cy="5539189"/>
              </a:xfrm>
              <a:blipFill rotWithShape="1">
                <a:blip r:embed="rId1"/>
                <a:stretch>
                  <a:fillRect l="-1" t="-2" r="7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4000" b="1" dirty="0"/>
              <a:t>高级语言 </a:t>
            </a:r>
            <a:r>
              <a:rPr lang="en-US" altLang="zh-CN" sz="4000" b="1" dirty="0">
                <a:sym typeface="Wingdings" panose="05000000000000000000" pitchFamily="2" charset="2"/>
              </a:rPr>
              <a:t> </a:t>
            </a:r>
            <a:r>
              <a:rPr lang="zh-CN" altLang="en-US" sz="4000" b="1" dirty="0">
                <a:sym typeface="Wingdings" panose="05000000000000000000" pitchFamily="2" charset="2"/>
              </a:rPr>
              <a:t>汇编代码 </a:t>
            </a:r>
            <a:r>
              <a:rPr lang="en-US" altLang="zh-CN" sz="4000" b="1" dirty="0">
                <a:sym typeface="Wingdings" panose="05000000000000000000" pitchFamily="2" charset="2"/>
              </a:rPr>
              <a:t> </a:t>
            </a:r>
            <a:r>
              <a:rPr lang="zh-CN" altLang="en-US" sz="4000" b="1" dirty="0">
                <a:sym typeface="Wingdings" panose="05000000000000000000" pitchFamily="2" charset="2"/>
              </a:rPr>
              <a:t>机器代码</a:t>
            </a:r>
            <a:endParaRPr lang="zh-CN" altLang="en-US" sz="4000" b="1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125083" y="1812422"/>
            <a:ext cx="2863447" cy="434749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400" dirty="0" err="1">
                <a:latin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</a:rPr>
              <a:t> f, g, y;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//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global variables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endParaRPr lang="en-US" sz="1050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400" dirty="0" err="1">
                <a:latin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</a:rPr>
              <a:t> </a:t>
            </a:r>
            <a:r>
              <a:rPr lang="en-US" sz="1400" b="1" dirty="0">
                <a:latin typeface="Courier New" panose="02070309020205020404" pitchFamily="49" charset="0"/>
              </a:rPr>
              <a:t>main</a:t>
            </a:r>
            <a:r>
              <a:rPr lang="en-US" sz="1400" dirty="0">
                <a:latin typeface="Courier New" panose="02070309020205020404" pitchFamily="49" charset="0"/>
              </a:rPr>
              <a:t>(void) 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400" dirty="0">
                <a:latin typeface="Courier New" panose="02070309020205020404" pitchFamily="49" charset="0"/>
              </a:rPr>
              <a:t>{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400" dirty="0">
                <a:latin typeface="Courier New" panose="02070309020205020404" pitchFamily="49" charset="0"/>
              </a:rPr>
              <a:t>  f = 2;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400" dirty="0">
                <a:latin typeface="Courier New" panose="02070309020205020404" pitchFamily="49" charset="0"/>
              </a:rPr>
              <a:t>  g = 3;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400" dirty="0">
                <a:latin typeface="Courier New" panose="02070309020205020404" pitchFamily="49" charset="0"/>
              </a:rPr>
              <a:t>  y = </a:t>
            </a: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</a:rPr>
              <a:t>sum</a:t>
            </a:r>
            <a:r>
              <a:rPr lang="en-US" sz="1400" dirty="0">
                <a:latin typeface="Courier New" panose="02070309020205020404" pitchFamily="49" charset="0"/>
              </a:rPr>
              <a:t>(f, g);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400" dirty="0">
                <a:latin typeface="Courier New" panose="02070309020205020404" pitchFamily="49" charset="0"/>
              </a:rPr>
              <a:t>  return y;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400" dirty="0">
                <a:latin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endParaRPr lang="en-US" sz="1050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400" dirty="0" err="1">
                <a:latin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</a:rPr>
              <a:t>sum</a:t>
            </a:r>
            <a:r>
              <a:rPr lang="en-US" sz="1400" dirty="0"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</a:rPr>
              <a:t> a, </a:t>
            </a:r>
            <a:r>
              <a:rPr lang="en-US" sz="1400" dirty="0" err="1">
                <a:latin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</a:rPr>
              <a:t> b) 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400" dirty="0">
                <a:latin typeface="Courier New" panose="02070309020205020404" pitchFamily="49" charset="0"/>
              </a:rPr>
              <a:t>{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400" dirty="0">
                <a:latin typeface="Courier New" panose="02070309020205020404" pitchFamily="49" charset="0"/>
              </a:rPr>
              <a:t>  return (a + b);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400" dirty="0">
                <a:latin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7893" y="1402138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C </a:t>
            </a:r>
            <a:r>
              <a:rPr lang="zh-CN" altLang="en-US" b="1" dirty="0"/>
              <a:t>代码</a:t>
            </a:r>
            <a:r>
              <a:rPr lang="en-US" altLang="zh-CN" b="1" dirty="0"/>
              <a:t> 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2988530" y="1402138"/>
            <a:ext cx="4949533" cy="5083397"/>
            <a:chOff x="2988530" y="1402138"/>
            <a:chExt cx="4949533" cy="5083397"/>
          </a:xfrm>
        </p:grpSpPr>
        <p:sp>
          <p:nvSpPr>
            <p:cNvPr id="6" name="右箭头 5"/>
            <p:cNvSpPr/>
            <p:nvPr/>
          </p:nvSpPr>
          <p:spPr>
            <a:xfrm>
              <a:off x="3044657" y="4034417"/>
              <a:ext cx="488673" cy="296702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Rectangle 6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583375" y="1812422"/>
              <a:ext cx="4354688" cy="4673113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marL="342900" indent="-342900">
                <a:spcAft>
                  <a:spcPts val="300"/>
                </a:spcAft>
              </a:pPr>
              <a:r>
                <a:rPr lang="en-US" sz="1400" b="1" dirty="0">
                  <a:latin typeface="Courier New" panose="02070309020205020404" pitchFamily="49" charset="0"/>
                  <a:cs typeface="Arial" panose="020B0604020202020204" pitchFamily="34" charset="0"/>
                </a:rPr>
                <a:t>.data</a:t>
              </a:r>
              <a:endParaRPr lang="en-US" sz="1400" b="1" dirty="0"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f:</a:t>
              </a:r>
              <a:endParaRPr lang="en-US" sz="1400" dirty="0"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g:</a:t>
              </a:r>
              <a:endParaRPr lang="en-US" sz="1400" dirty="0"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y:</a:t>
              </a:r>
              <a:endParaRPr lang="en-US" sz="1400" dirty="0"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b="1" dirty="0">
                  <a:latin typeface="Courier New" panose="02070309020205020404" pitchFamily="49" charset="0"/>
                  <a:cs typeface="Arial" panose="020B0604020202020204" pitchFamily="34" charset="0"/>
                </a:rPr>
                <a:t>.text</a:t>
              </a:r>
              <a:endParaRPr lang="en-US" sz="1400" b="1" dirty="0"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Georgia" panose="02040502050405020303" pitchFamily="18" charset="0"/>
                  <a:cs typeface="Arial" panose="020B0604020202020204" pitchFamily="34" charset="0"/>
                </a:rPr>
                <a:t>main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: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addi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$</a:t>
              </a:r>
              <a:r>
                <a:rPr lang="en-US" sz="1400" dirty="0" err="1">
                  <a:latin typeface="Courier New" panose="02070309020205020404" pitchFamily="49" charset="0"/>
                  <a:cs typeface="Arial" panose="020B0604020202020204" pitchFamily="34" charset="0"/>
                </a:rPr>
                <a:t>sp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, $</a:t>
              </a:r>
              <a:r>
                <a:rPr lang="en-US" sz="1400" dirty="0" err="1">
                  <a:latin typeface="Courier New" panose="02070309020205020404" pitchFamily="49" charset="0"/>
                  <a:cs typeface="Arial" panose="020B0604020202020204" pitchFamily="34" charset="0"/>
                </a:rPr>
                <a:t>sp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, -4  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stack frame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   </a:t>
              </a:r>
              <a:r>
                <a:rPr lang="en-US" sz="1400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sw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$ra, 0($</a:t>
              </a:r>
              <a:r>
                <a:rPr lang="en-US" sz="1400" dirty="0" err="1">
                  <a:latin typeface="Courier New" panose="02070309020205020404" pitchFamily="49" charset="0"/>
                  <a:cs typeface="Arial" panose="020B0604020202020204" pitchFamily="34" charset="0"/>
                </a:rPr>
                <a:t>sp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)   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store $ra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   </a:t>
              </a:r>
              <a:r>
                <a:rPr lang="en-US" sz="1400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addi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$a0, $0, 2    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$a0 = 2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   </a:t>
              </a:r>
              <a:r>
                <a:rPr lang="en-US" sz="1400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sw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$a0, </a:t>
              </a:r>
              <a:r>
                <a:rPr lang="en-US" sz="1400" b="1" dirty="0">
                  <a:solidFill>
                    <a:srgbClr val="FF0000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f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     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f = 2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   </a:t>
              </a:r>
              <a:r>
                <a:rPr lang="en-US" sz="1400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addi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$a1, $0, 3    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$a1 = 3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   </a:t>
              </a:r>
              <a:r>
                <a:rPr lang="en-US" sz="1400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sw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$a1, </a:t>
              </a:r>
              <a:r>
                <a:rPr lang="en-US" sz="1400" b="1" dirty="0">
                  <a:solidFill>
                    <a:srgbClr val="FF0000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g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     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g = 3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   </a:t>
              </a:r>
              <a:r>
                <a:rPr lang="en-US" sz="1400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jal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sum           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call sum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   </a:t>
              </a:r>
              <a:r>
                <a:rPr lang="en-US" sz="1400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sw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$v0, </a:t>
              </a:r>
              <a:r>
                <a:rPr lang="en-US" sz="1400" b="1" dirty="0">
                  <a:solidFill>
                    <a:srgbClr val="FF0000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y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     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y = sum()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   </a:t>
              </a:r>
              <a:r>
                <a:rPr lang="en-US" sz="1400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lw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$ra, 0($</a:t>
              </a:r>
              <a:r>
                <a:rPr lang="en-US" sz="1400" dirty="0" err="1">
                  <a:latin typeface="Courier New" panose="02070309020205020404" pitchFamily="49" charset="0"/>
                  <a:cs typeface="Arial" panose="020B0604020202020204" pitchFamily="34" charset="0"/>
                </a:rPr>
                <a:t>sp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)   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restore $ra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   </a:t>
              </a:r>
              <a:r>
                <a:rPr lang="en-US" sz="1400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addi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$</a:t>
              </a:r>
              <a:r>
                <a:rPr lang="en-US" sz="1400" dirty="0" err="1">
                  <a:latin typeface="Courier New" panose="02070309020205020404" pitchFamily="49" charset="0"/>
                  <a:cs typeface="Arial" panose="020B0604020202020204" pitchFamily="34" charset="0"/>
                </a:rPr>
                <a:t>sp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, $</a:t>
              </a:r>
              <a:r>
                <a:rPr lang="en-US" sz="1400" dirty="0" err="1">
                  <a:latin typeface="Courier New" panose="02070309020205020404" pitchFamily="49" charset="0"/>
                  <a:cs typeface="Arial" panose="020B0604020202020204" pitchFamily="34" charset="0"/>
                </a:rPr>
                <a:t>sp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, 4   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restore $</a:t>
              </a:r>
              <a:r>
                <a:rPr lang="en-US" sz="1400" dirty="0" err="1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sp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   </a:t>
              </a:r>
              <a:r>
                <a:rPr lang="en-US" sz="1400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jr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$ra           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return to OS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Georgia" panose="02040502050405020303" pitchFamily="18" charset="0"/>
                  <a:cs typeface="Arial" panose="020B0604020202020204" pitchFamily="34" charset="0"/>
                </a:rPr>
                <a:t>sum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: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</a:t>
              </a:r>
              <a:r>
                <a:rPr lang="en-US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add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$v0, $a0, $a1 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$v0 = a + b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300"/>
                </a:spcAft>
              </a:pP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   </a:t>
              </a:r>
              <a:r>
                <a:rPr lang="en-US" sz="1400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jr</a:t>
              </a:r>
              <a:r>
                <a:rPr lang="en-US" sz="1400" dirty="0">
                  <a:latin typeface="Courier New" panose="02070309020205020404" pitchFamily="49" charset="0"/>
                  <a:cs typeface="Arial" panose="020B0604020202020204" pitchFamily="34" charset="0"/>
                </a:rPr>
                <a:t>   $ra           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# return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2988530" y="3618169"/>
              <a:ext cx="492443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/>
                <a:t>编</a:t>
              </a:r>
              <a:endParaRPr lang="en-US" altLang="zh-CN" sz="2400" dirty="0"/>
            </a:p>
            <a:p>
              <a:endParaRPr lang="en-US" altLang="zh-CN" sz="2400" dirty="0"/>
            </a:p>
            <a:p>
              <a:r>
                <a:rPr lang="zh-CN" altLang="en-US" sz="2400" dirty="0"/>
                <a:t>译</a:t>
              </a:r>
              <a:endParaRPr lang="zh-CN" altLang="en-US" sz="24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4883902" y="1402138"/>
              <a:ext cx="16033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/>
                <a:t>MIPS</a:t>
              </a:r>
              <a:r>
                <a:rPr lang="zh-CN" altLang="en-US" b="1" dirty="0"/>
                <a:t>汇编代码</a:t>
              </a:r>
              <a:endParaRPr lang="zh-CN" altLang="en-US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988108" y="954544"/>
            <a:ext cx="4014192" cy="5530991"/>
            <a:chOff x="7988108" y="954544"/>
            <a:chExt cx="4014192" cy="5530991"/>
          </a:xfrm>
        </p:grpSpPr>
        <p:sp>
          <p:nvSpPr>
            <p:cNvPr id="8" name="矩形 7"/>
            <p:cNvSpPr/>
            <p:nvPr/>
          </p:nvSpPr>
          <p:spPr>
            <a:xfrm>
              <a:off x="10492164" y="3119089"/>
              <a:ext cx="1416948" cy="33547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</a:t>
              </a:r>
              <a:r>
                <a:rPr lang="en-US" altLang="zh-CN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23BDFFFC</a:t>
              </a:r>
              <a:endPara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</a:t>
              </a:r>
              <a:r>
                <a:rPr lang="en-US" altLang="zh-CN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AFBF0000</a:t>
              </a:r>
              <a:endPara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</a:t>
              </a:r>
              <a:r>
                <a:rPr lang="en-US" altLang="zh-CN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20040002</a:t>
              </a:r>
              <a:endPara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</a:t>
              </a:r>
              <a:r>
                <a:rPr lang="en-US" altLang="zh-CN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AF848000</a:t>
              </a:r>
              <a:endPara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</a:t>
              </a:r>
              <a:r>
                <a:rPr lang="en-US" altLang="zh-CN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20050003</a:t>
              </a:r>
              <a:endPara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</a:t>
              </a:r>
              <a:r>
                <a:rPr lang="en-US" altLang="zh-CN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AF858004</a:t>
              </a:r>
              <a:endPara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</a:t>
              </a:r>
              <a:r>
                <a:rPr lang="en-US" altLang="zh-CN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0C10000B</a:t>
              </a:r>
              <a:endPara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</a:t>
              </a:r>
              <a:r>
                <a:rPr lang="en-US" altLang="zh-CN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AF828008</a:t>
              </a:r>
              <a:endPara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</a:t>
              </a:r>
              <a:r>
                <a:rPr lang="en-US" altLang="zh-CN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8FBF0000</a:t>
              </a:r>
              <a:endPara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</a:t>
              </a:r>
              <a:r>
                <a:rPr lang="en-US" altLang="zh-CN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23BD0004</a:t>
              </a:r>
              <a:endPara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</a:t>
              </a:r>
              <a:r>
                <a:rPr lang="en-US" altLang="zh-CN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03E00008</a:t>
              </a:r>
              <a:endPara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</a:t>
              </a:r>
              <a:r>
                <a:rPr lang="en-US" altLang="zh-CN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00851020</a:t>
              </a:r>
              <a:endPara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</a:t>
              </a:r>
              <a:r>
                <a:rPr lang="en-US" altLang="zh-CN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03E00008</a:t>
              </a:r>
              <a:endParaRPr lang="zh-CN" altLang="en-US" sz="1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8710057" y="3119089"/>
              <a:ext cx="1416948" cy="33547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0x00400000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0x00400004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0x00400008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0x0040000C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0x00400010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0x00400014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0x00400018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0x0040001C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0x00400020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0x00400024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0x00400028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0x0040002C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0x00400030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8727476" y="2735202"/>
              <a:ext cx="13821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代码段地址</a:t>
              </a:r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aphicFrame>
          <p:nvGraphicFramePr>
            <p:cNvPr id="13" name="Group 5"/>
            <p:cNvGraphicFramePr/>
            <p:nvPr>
              <p:custDataLst>
                <p:tags r:id="rId3"/>
              </p:custDataLst>
            </p:nvPr>
          </p:nvGraphicFramePr>
          <p:xfrm>
            <a:off x="8618356" y="1044875"/>
            <a:ext cx="1600350" cy="1645920"/>
          </p:xfrm>
          <a:graphic>
            <a:graphicData uri="http://schemas.openxmlformats.org/drawingml/2006/table">
              <a:tbl>
                <a:tblPr/>
                <a:tblGrid>
                  <a:gridCol w="560676"/>
                  <a:gridCol w="1039674"/>
                </a:tblGrid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</a:pPr>
                        <a:r>
                          <a:rPr kumimoji="0" lang="zh-CN" altLang="en-US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Times New Roman" panose="02020603050405020304" pitchFamily="18" charset="0"/>
                            <a:cs typeface="Arial" panose="020B0604020202020204" pitchFamily="34" charset="0"/>
                          </a:rPr>
                          <a:t>符号</a:t>
                        </a:r>
                        <a:endPara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endParaRPr>
                      </a:p>
                    </a:txBody>
                    <a:tcPr anchor="ctr" horzOverflow="overflow">
                      <a:lnL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</a:pPr>
                        <a:r>
                          <a:rPr kumimoji="0" lang="zh-CN" altLang="en-US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Times New Roman" panose="02020603050405020304" pitchFamily="18" charset="0"/>
                            <a:cs typeface="Arial" panose="020B0604020202020204" pitchFamily="34" charset="0"/>
                          </a:rPr>
                          <a:t>地址</a:t>
                        </a:r>
                        <a:endPara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endParaRPr>
                      </a:p>
                    </a:txBody>
                    <a:tcPr anchor="ctr" horzOverflow="overflow">
                      <a:lnL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</a:pPr>
                        <a:r>
                          <a: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urier New" panose="02070309020205020404" pitchFamily="49" charset="0"/>
                            <a:cs typeface="Arial" panose="020B0604020202020204" pitchFamily="34" charset="0"/>
                          </a:rPr>
                          <a:t>f</a:t>
                        </a:r>
                        <a:endPara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</a:pPr>
                        <a:r>
                          <a: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Arial" panose="020B0604020202020204" pitchFamily="34" charset="0"/>
                          </a:rPr>
                          <a:t>0x10000000</a:t>
                        </a:r>
                        <a:endPara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</a:pPr>
                        <a:r>
                          <a: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urier New" panose="02070309020205020404" pitchFamily="49" charset="0"/>
                            <a:cs typeface="Arial" panose="020B0604020202020204" pitchFamily="34" charset="0"/>
                          </a:rPr>
                          <a:t>g</a:t>
                        </a:r>
                        <a:endPara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</a:pPr>
                        <a:r>
                          <a: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Arial" panose="020B0604020202020204" pitchFamily="34" charset="0"/>
                          </a:rPr>
                          <a:t>0x10000004</a:t>
                        </a:r>
                        <a:endPara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</a:pPr>
                        <a:r>
                          <a: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urier New" panose="02070309020205020404" pitchFamily="49" charset="0"/>
                            <a:cs typeface="Arial" panose="020B0604020202020204" pitchFamily="34" charset="0"/>
                          </a:rPr>
                          <a:t>y</a:t>
                        </a:r>
                        <a:endPara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</a:pPr>
                        <a:r>
                          <a: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Arial" panose="020B0604020202020204" pitchFamily="34" charset="0"/>
                          </a:rPr>
                          <a:t>0x10000008</a:t>
                        </a:r>
                        <a:endPara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</a:pPr>
                        <a:r>
                          <a: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urier New" panose="02070309020205020404" pitchFamily="49" charset="0"/>
                            <a:cs typeface="Arial" panose="020B0604020202020204" pitchFamily="34" charset="0"/>
                          </a:rPr>
                          <a:t>main</a:t>
                        </a:r>
                        <a:endPara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</a:pPr>
                        <a:r>
                          <a: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Arial" panose="020B0604020202020204" pitchFamily="34" charset="0"/>
                          </a:rPr>
                          <a:t>0x00400000</a:t>
                        </a:r>
                        <a:endPara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</a:pPr>
                        <a:r>
                          <a: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urier New" panose="02070309020205020404" pitchFamily="49" charset="0"/>
                            <a:cs typeface="Arial" panose="020B0604020202020204" pitchFamily="34" charset="0"/>
                          </a:rPr>
                          <a:t>sum</a:t>
                        </a:r>
                        <a:endPara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</a:pPr>
                        <a:r>
                          <a: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Arial" panose="020B0604020202020204" pitchFamily="34" charset="0"/>
                          </a:rPr>
                          <a:t>0x0040002C</a:t>
                        </a:r>
                        <a:endPara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</a:tbl>
            </a:graphicData>
          </a:graphic>
        </p:graphicFrame>
        <p:sp>
          <p:nvSpPr>
            <p:cNvPr id="14" name="矩形 13"/>
            <p:cNvSpPr/>
            <p:nvPr/>
          </p:nvSpPr>
          <p:spPr>
            <a:xfrm>
              <a:off x="10398976" y="2686802"/>
              <a:ext cx="16033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/>
                <a:t>MIPS</a:t>
              </a:r>
              <a:r>
                <a:rPr lang="zh-CN" altLang="en-US" b="1" dirty="0"/>
                <a:t>机器代码</a:t>
              </a:r>
              <a:endParaRPr lang="zh-CN" altLang="en-US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8532909" y="954544"/>
              <a:ext cx="3469391" cy="5530991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右箭头 5"/>
            <p:cNvSpPr/>
            <p:nvPr/>
          </p:nvSpPr>
          <p:spPr>
            <a:xfrm>
              <a:off x="8044235" y="4034417"/>
              <a:ext cx="488673" cy="296702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988108" y="3618169"/>
              <a:ext cx="492443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/>
                <a:t>汇</a:t>
              </a:r>
              <a:endParaRPr lang="en-US" altLang="zh-CN" sz="2400" dirty="0"/>
            </a:p>
            <a:p>
              <a:endParaRPr lang="en-US" altLang="zh-CN" sz="2400" dirty="0"/>
            </a:p>
            <a:p>
              <a:r>
                <a:rPr lang="zh-CN" altLang="en-US" sz="2400" dirty="0"/>
                <a:t>编</a:t>
              </a:r>
              <a:endParaRPr lang="zh-CN" altLang="en-US" sz="2400" dirty="0"/>
            </a:p>
          </p:txBody>
        </p:sp>
      </p:grp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024"/>
            <a:ext cx="12192000" cy="7560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CN" sz="3600" b="1" dirty="0"/>
              <a:t>OS</a:t>
            </a:r>
            <a:r>
              <a:rPr lang="zh-CN" altLang="en-US" sz="3600" b="1" dirty="0"/>
              <a:t>将可执行文件从硬盘装入内存</a:t>
            </a:r>
            <a:endParaRPr lang="zh-CN" altLang="en-US" sz="3600" b="1" dirty="0"/>
          </a:p>
        </p:txBody>
      </p:sp>
      <p:graphicFrame>
        <p:nvGraphicFramePr>
          <p:cNvPr id="4" name="Object 5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</p:nvPr>
        </p:nvGraphicFramePr>
        <p:xfrm>
          <a:off x="1710275" y="822871"/>
          <a:ext cx="3730625" cy="594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VISIO" r:id="rId2" imgW="2770505" imgH="4151630" progId="Visio.Drawing.6">
                  <p:embed/>
                </p:oleObj>
              </mc:Choice>
              <mc:Fallback>
                <p:oleObj name="VISIO" r:id="rId2" imgW="2770505" imgH="415163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0275" y="822871"/>
                        <a:ext cx="3730625" cy="5946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Grp="1" noChangeAspect="1"/>
          </p:cNvGraphicFramePr>
          <p:nvPr>
            <p:ph idx="1"/>
            <p:custDataLst>
              <p:tags r:id="rId4"/>
            </p:custDataLst>
          </p:nvPr>
        </p:nvGraphicFramePr>
        <p:xfrm>
          <a:off x="5464294" y="1013633"/>
          <a:ext cx="6738938" cy="478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VISIO" r:id="rId5" imgW="3994150" imgH="2840990" progId="Visio.Drawing.6">
                  <p:embed/>
                </p:oleObj>
              </mc:Choice>
              <mc:Fallback>
                <p:oleObj name="VISIO" r:id="rId5" imgW="3994150" imgH="284099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294" y="1013633"/>
                        <a:ext cx="6738938" cy="4781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6021767" y="13370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统计信息</a:t>
            </a:r>
            <a:endParaRPr lang="zh-CN" altLang="en-US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37183" y="3219742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代码段</a:t>
            </a:r>
            <a:endParaRPr lang="zh-CN" altLang="en-US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906350" y="5168725"/>
            <a:ext cx="13388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全局数据段</a:t>
            </a:r>
            <a:endParaRPr lang="zh-CN" altLang="en-US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7"/>
          <a:srcRect l="-1" r="2608" b="6470"/>
          <a:stretch>
            <a:fillRect/>
          </a:stretch>
        </p:blipFill>
        <p:spPr>
          <a:xfrm>
            <a:off x="1931849" y="6683325"/>
            <a:ext cx="613262" cy="13823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666483" y="1109561"/>
            <a:ext cx="1878628" cy="5568762"/>
            <a:chOff x="666483" y="1109561"/>
            <a:chExt cx="1878628" cy="5568762"/>
          </a:xfrm>
        </p:grpSpPr>
        <p:grpSp>
          <p:nvGrpSpPr>
            <p:cNvPr id="6" name="组合 5"/>
            <p:cNvGrpSpPr/>
            <p:nvPr/>
          </p:nvGrpSpPr>
          <p:grpSpPr>
            <a:xfrm>
              <a:off x="848183" y="1109561"/>
              <a:ext cx="1696928" cy="5568762"/>
              <a:chOff x="848183" y="1109561"/>
              <a:chExt cx="1696928" cy="5568762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1038521" y="6377783"/>
                <a:ext cx="110799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200" dirty="0"/>
                  <a:t>用于操作系统</a:t>
                </a:r>
                <a:endParaRPr lang="zh-CN" altLang="en-US" sz="1200" dirty="0"/>
              </a:p>
            </p:txBody>
          </p:sp>
          <p:cxnSp>
            <p:nvCxnSpPr>
              <p:cNvPr id="21" name="直接连接符 20"/>
              <p:cNvCxnSpPr/>
              <p:nvPr/>
            </p:nvCxnSpPr>
            <p:spPr>
              <a:xfrm flipH="1">
                <a:off x="946246" y="6351801"/>
                <a:ext cx="1598865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946246" y="3649545"/>
                <a:ext cx="1598865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/>
              <p:cNvCxnSpPr/>
              <p:nvPr/>
            </p:nvCxnSpPr>
            <p:spPr>
              <a:xfrm>
                <a:off x="1337481" y="3649544"/>
                <a:ext cx="0" cy="270000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 flipH="1">
                <a:off x="946246" y="6678323"/>
                <a:ext cx="1598865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矩形 25"/>
              <p:cNvSpPr/>
              <p:nvPr/>
            </p:nvSpPr>
            <p:spPr>
              <a:xfrm>
                <a:off x="1800443" y="5238973"/>
                <a:ext cx="61106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lvl="1">
                  <a:spcBef>
                    <a:spcPct val="20000"/>
                  </a:spcBef>
                </a:pPr>
                <a:r>
                  <a:rPr lang="en-US" altLang="zh-CN" sz="14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2</a:t>
                </a:r>
                <a:r>
                  <a:rPr lang="en-US" altLang="zh-CN" sz="1400" b="1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26+2</a:t>
                </a:r>
                <a:r>
                  <a:rPr lang="en-US" altLang="zh-CN" sz="14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  </a:t>
                </a:r>
                <a:endPara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7" name="直接连接符 26"/>
              <p:cNvCxnSpPr/>
              <p:nvPr/>
            </p:nvCxnSpPr>
            <p:spPr>
              <a:xfrm flipH="1">
                <a:off x="946246" y="2339360"/>
                <a:ext cx="1598865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/>
              <p:cNvCxnSpPr/>
              <p:nvPr/>
            </p:nvCxnSpPr>
            <p:spPr>
              <a:xfrm flipH="1">
                <a:off x="1337481" y="2339360"/>
                <a:ext cx="0" cy="1310184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矩形 29"/>
              <p:cNvSpPr/>
              <p:nvPr/>
            </p:nvSpPr>
            <p:spPr>
              <a:xfrm>
                <a:off x="1840183" y="2771643"/>
                <a:ext cx="61266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dirty="0">
                    <a:solidFill>
                      <a:schemeClr val="bg1">
                        <a:lumMod val="50000"/>
                      </a:schemeClr>
                    </a:solidFill>
                  </a:rPr>
                  <a:t>64KB</a:t>
                </a:r>
                <a:endParaRPr lang="zh-CN" altLang="en-US" sz="16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2" name="直接连接符 31"/>
              <p:cNvCxnSpPr/>
              <p:nvPr/>
            </p:nvCxnSpPr>
            <p:spPr>
              <a:xfrm flipH="1">
                <a:off x="946246" y="1438607"/>
                <a:ext cx="1598865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H="1">
                <a:off x="946246" y="1115610"/>
                <a:ext cx="1598865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矩形 33"/>
              <p:cNvSpPr/>
              <p:nvPr/>
            </p:nvSpPr>
            <p:spPr>
              <a:xfrm>
                <a:off x="848183" y="1109561"/>
                <a:ext cx="800219" cy="3385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保留段</a:t>
                </a:r>
                <a:endParaRPr lang="zh-CN" altLang="en-US" sz="1600" dirty="0"/>
              </a:p>
            </p:txBody>
          </p:sp>
          <p:cxnSp>
            <p:nvCxnSpPr>
              <p:cNvPr id="35" name="直接箭头连接符 34"/>
              <p:cNvCxnSpPr/>
              <p:nvPr/>
            </p:nvCxnSpPr>
            <p:spPr>
              <a:xfrm>
                <a:off x="1337481" y="1445196"/>
                <a:ext cx="0" cy="88506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矩形 36"/>
              <p:cNvSpPr/>
              <p:nvPr/>
            </p:nvSpPr>
            <p:spPr>
              <a:xfrm>
                <a:off x="1637076" y="4947644"/>
                <a:ext cx="77938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256 MB</a:t>
                </a:r>
                <a:endParaRPr lang="zh-CN" altLang="en-US" sz="1400" dirty="0"/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892886" y="4932256"/>
                <a:ext cx="811615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 dirty="0"/>
                  <a:t>代码段</a:t>
                </a:r>
                <a:endParaRPr lang="zh-CN" altLang="en-US" sz="1600" b="1" dirty="0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931849" y="1704187"/>
                <a:ext cx="53091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dirty="0">
                    <a:solidFill>
                      <a:schemeClr val="bg1">
                        <a:lumMod val="50000"/>
                      </a:schemeClr>
                    </a:solidFill>
                  </a:rPr>
                  <a:t>2GB</a:t>
                </a:r>
                <a:endParaRPr lang="zh-CN" altLang="en-US" sz="16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31" name="矩形 30"/>
            <p:cNvSpPr/>
            <p:nvPr/>
          </p:nvSpPr>
          <p:spPr>
            <a:xfrm>
              <a:off x="666483" y="1697021"/>
              <a:ext cx="134684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楷体" panose="02010609060101010101" pitchFamily="49" charset="-122"/>
                  <a:ea typeface="楷体" panose="02010609060101010101" pitchFamily="49" charset="-122"/>
                </a:rPr>
                <a:t>动态数据段</a:t>
              </a:r>
              <a:endParaRPr lang="zh-CN" altLang="en-US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32187" y="2764478"/>
              <a:ext cx="121058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/>
                <a:t>全局数据段</a:t>
              </a:r>
              <a:endParaRPr lang="zh-CN" altLang="en-US" sz="1600" b="1" dirty="0"/>
            </a:p>
          </p:txBody>
        </p:sp>
      </p:grpSp>
      <p:sp>
        <p:nvSpPr>
          <p:cNvPr id="39" name="左大括号 38"/>
          <p:cNvSpPr/>
          <p:nvPr/>
        </p:nvSpPr>
        <p:spPr>
          <a:xfrm>
            <a:off x="645995" y="1109561"/>
            <a:ext cx="140306" cy="5568760"/>
          </a:xfrm>
          <a:prstGeom prst="leftBrace">
            <a:avLst>
              <a:gd name="adj1" fmla="val 11533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0943" y="3724664"/>
            <a:ext cx="5309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</a:rPr>
              <a:t>4GB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灯片编号占位符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25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811560" y="1071018"/>
            <a:ext cx="8114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0xFFFFFFFF</a:t>
            </a:r>
            <a:endParaRPr lang="zh-CN" altLang="en-US" sz="1050" dirty="0"/>
          </a:p>
        </p:txBody>
      </p:sp>
      <p:grpSp>
        <p:nvGrpSpPr>
          <p:cNvPr id="36" name="组合 35"/>
          <p:cNvGrpSpPr/>
          <p:nvPr/>
        </p:nvGrpSpPr>
        <p:grpSpPr>
          <a:xfrm>
            <a:off x="10414878" y="5337201"/>
            <a:ext cx="1189846" cy="1164098"/>
            <a:chOff x="9322904" y="4253426"/>
            <a:chExt cx="1942141" cy="1942141"/>
          </a:xfrm>
        </p:grpSpPr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22904" y="4253426"/>
              <a:ext cx="1942141" cy="1942141"/>
            </a:xfrm>
            <a:prstGeom prst="rect">
              <a:avLst/>
            </a:prstGeom>
          </p:spPr>
        </p:pic>
        <p:sp>
          <p:nvSpPr>
            <p:cNvPr id="43" name="文本框 42"/>
            <p:cNvSpPr txBox="1"/>
            <p:nvPr/>
          </p:nvSpPr>
          <p:spPr>
            <a:xfrm>
              <a:off x="9647915" y="5156726"/>
              <a:ext cx="1170109" cy="513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bg1">
                      <a:lumMod val="95000"/>
                    </a:schemeClr>
                  </a:solidFill>
                  <a:latin typeface="Georgia" panose="02040502050405020303" pitchFamily="18" charset="0"/>
                </a:rPr>
                <a:t>break</a:t>
              </a:r>
              <a:endParaRPr lang="zh-CN" altLang="en-US" sz="1600" b="1" dirty="0">
                <a:solidFill>
                  <a:schemeClr val="bg1">
                    <a:lumMod val="95000"/>
                  </a:schemeClr>
                </a:solidFill>
                <a:latin typeface="Georgia" panose="02040502050405020303" pitchFamily="18" charset="0"/>
              </a:endParaRPr>
            </a:p>
          </p:txBody>
        </p:sp>
      </p:grpSp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</p:bldLst>
  </p:timing>
</p:sld>
</file>

<file path=ppt/tags/tag1.xml><?xml version="1.0" encoding="utf-8"?>
<p:tagLst xmlns:p="http://schemas.openxmlformats.org/presentationml/2006/main">
  <p:tag name="TIMING" val="|88.8|5.8|6.2|4.8"/>
</p:tagLst>
</file>

<file path=ppt/tags/tag2.xml><?xml version="1.0" encoding="utf-8"?>
<p:tagLst xmlns:p="http://schemas.openxmlformats.org/presentationml/2006/main">
  <p:tag name="_INSTRUCTOR VIEW19C14C36-AC8E-43BC-9DB6-C2AAF774C7DC|PANE__TAG" val="_"/>
</p:tagLst>
</file>

<file path=ppt/tags/tag3.xml><?xml version="1.0" encoding="utf-8"?>
<p:tagLst xmlns:p="http://schemas.openxmlformats.org/presentationml/2006/main">
  <p:tag name="TIMING" val="|7|17|9.3|11.2|24.5"/>
</p:tagLst>
</file>

<file path=ppt/tags/tag4.xml><?xml version="1.0" encoding="utf-8"?>
<p:tagLst xmlns:p="http://schemas.openxmlformats.org/presentationml/2006/main">
  <p:tag name="TIMING" val="|36|23.7|10.3|17.2"/>
</p:tagLst>
</file>

<file path=ppt/tags/tag5.xml><?xml version="1.0" encoding="utf-8"?>
<p:tagLst xmlns:p="http://schemas.openxmlformats.org/presentationml/2006/main">
  <p:tag name="TIMING" val="|10|15.8|21.8|22.4|24.4|28.8|1.7"/>
</p:tagLst>
</file>

<file path=ppt/tags/tag6.xml><?xml version="1.0" encoding="utf-8"?>
<p:tagLst xmlns:p="http://schemas.openxmlformats.org/presentationml/2006/main">
  <p:tag name="_INSTRUCTOR VIEW19C14C36-AC8E-43BC-9DB6-C2AAF774C7DC|PANE__TAG" val="_"/>
</p:tagLst>
</file>

<file path=ppt/tags/tag7.xml><?xml version="1.0" encoding="utf-8"?>
<p:tagLst xmlns:p="http://schemas.openxmlformats.org/presentationml/2006/main">
  <p:tag name="_INSTRUCTOR VIEW19C14C36-AC8E-43BC-9DB6-C2AAF774C7DC|PANE__TAG" val="_"/>
</p:tagLst>
</file>

<file path=ppt/tags/tag8.xml><?xml version="1.0" encoding="utf-8"?>
<p:tagLst xmlns:p="http://schemas.openxmlformats.org/presentationml/2006/main">
  <p:tag name="TIMING" val="|19.9|73|2.3|36.7"/>
</p:tagLst>
</file>

<file path=ppt/tags/tag9.xml><?xml version="1.0" encoding="utf-8"?>
<p:tagLst xmlns:p="http://schemas.openxmlformats.org/presentationml/2006/main">
  <p:tag name="TIMING" val="|15.1|40.5"/>
</p:tagLst>
</file>

<file path=ppt/tags/tag10.xml><?xml version="1.0" encoding="utf-8"?>
<p:tagLst xmlns:p="http://schemas.openxmlformats.org/presentationml/2006/main">
  <p:tag name="TIMING" val="|34.7|41.9|33.3|30.3|20.9"/>
</p:tagLst>
</file>

<file path=ppt/tags/tag11.xml><?xml version="1.0" encoding="utf-8"?>
<p:tagLst xmlns:p="http://schemas.openxmlformats.org/presentationml/2006/main">
  <p:tag name="TIMING" val="|12.3|29.5|6.4|29.4|15.5|1.4|5.5|9.8|17.9|26.9"/>
</p:tagLst>
</file>

<file path=ppt/tags/tag12.xml><?xml version="1.0" encoding="utf-8"?>
<p:tagLst xmlns:p="http://schemas.openxmlformats.org/presentationml/2006/main">
  <p:tag name="TIMING" val="|6.2|11.6|10.5|9.6|14.3|17.8"/>
</p:tagLst>
</file>

<file path=ppt/tags/tag13.xml><?xml version="1.0" encoding="utf-8"?>
<p:tagLst xmlns:p="http://schemas.openxmlformats.org/presentationml/2006/main">
  <p:tag name="TIMING" val="|7.3|6.3|72.7"/>
</p:tagLst>
</file>

<file path=ppt/tags/tag14.xml><?xml version="1.0" encoding="utf-8"?>
<p:tagLst xmlns:p="http://schemas.openxmlformats.org/presentationml/2006/main">
  <p:tag name="TIMING" val="|7.3|6.3|72.7"/>
</p:tagLst>
</file>

<file path=ppt/tags/tag15.xml><?xml version="1.0" encoding="utf-8"?>
<p:tagLst xmlns:p="http://schemas.openxmlformats.org/presentationml/2006/main">
  <p:tag name="_INSTRUCTOR VIEW19C14C36-AC8E-43BC-9DB6-C2AAF774C7DC|PANE__TAG" val="_"/>
</p:tagLst>
</file>

<file path=ppt/tags/tag16.xml><?xml version="1.0" encoding="utf-8"?>
<p:tagLst xmlns:p="http://schemas.openxmlformats.org/presentationml/2006/main">
  <p:tag name="_INSTRUCTOR VIEW19C14C36-AC8E-43BC-9DB6-C2AAF774C7DC|PANE__TAG" val="_"/>
</p:tagLst>
</file>

<file path=ppt/tags/tag17.xml><?xml version="1.0" encoding="utf-8"?>
<p:tagLst xmlns:p="http://schemas.openxmlformats.org/presentationml/2006/main">
  <p:tag name="TIMING" val="|26.5|69.2"/>
</p:tagLst>
</file>

<file path=ppt/tags/tag18.xml><?xml version="1.0" encoding="utf-8"?>
<p:tagLst xmlns:p="http://schemas.openxmlformats.org/presentationml/2006/main">
  <p:tag name="_INSTRUCTOR VIEW19C14C36-AC8E-43BC-9DB6-C2AAF774C7DC|PANE__TAG" val="_"/>
</p:tagLst>
</file>

<file path=ppt/tags/tag19.xml><?xml version="1.0" encoding="utf-8"?>
<p:tagLst xmlns:p="http://schemas.openxmlformats.org/presentationml/2006/main">
  <p:tag name="_INSTRUCTOR VIEW19C14C36-AC8E-43BC-9DB6-C2AAF774C7DC|PANE__TAG" val="_"/>
</p:tagLst>
</file>

<file path=ppt/tags/tag20.xml><?xml version="1.0" encoding="utf-8"?>
<p:tagLst xmlns:p="http://schemas.openxmlformats.org/presentationml/2006/main">
  <p:tag name="TIMING" val="|8.3|55.7|22"/>
</p:tagLst>
</file>

<file path=ppt/tags/tag21.xml><?xml version="1.0" encoding="utf-8"?>
<p:tagLst xmlns:p="http://schemas.openxmlformats.org/presentationml/2006/main">
  <p:tag name="TIMING" val="|4.5|53|4.1"/>
</p:tagLst>
</file>

<file path=ppt/tags/tag22.xml><?xml version="1.0" encoding="utf-8"?>
<p:tagLst xmlns:p="http://schemas.openxmlformats.org/presentationml/2006/main">
  <p:tag name="_INSTRUCTOR VIEW19C14C36-AC8E-43BC-9DB6-C2AAF774C7DC|PANE__TAG" val="_"/>
</p:tagLst>
</file>

<file path=ppt/tags/tag23.xml><?xml version="1.0" encoding="utf-8"?>
<p:tagLst xmlns:p="http://schemas.openxmlformats.org/presentationml/2006/main">
  <p:tag name="_INSTRUCTOR VIEW19C14C36-AC8E-43BC-9DB6-C2AAF774C7DC|PANE__TAG" val="_"/>
</p:tagLst>
</file>

<file path=ppt/tags/tag24.xml><?xml version="1.0" encoding="utf-8"?>
<p:tagLst xmlns:p="http://schemas.openxmlformats.org/presentationml/2006/main">
  <p:tag name="_INSTRUCTOR VIEW19C14C36-AC8E-43BC-9DB6-C2AAF774C7DC|PANE__TAG" val="_"/>
</p:tagLst>
</file>

<file path=ppt/tags/tag25.xml><?xml version="1.0" encoding="utf-8"?>
<p:tagLst xmlns:p="http://schemas.openxmlformats.org/presentationml/2006/main">
  <p:tag name="_INSTRUCTOR VIEW19C14C36-AC8E-43BC-9DB6-C2AAF774C7DC|PANE__TAG" val="_"/>
</p:tagLst>
</file>

<file path=ppt/tags/tag26.xml><?xml version="1.0" encoding="utf-8"?>
<p:tagLst xmlns:p="http://schemas.openxmlformats.org/presentationml/2006/main">
  <p:tag name="_INSTRUCTOR VIEW19C14C36-AC8E-43BC-9DB6-C2AAF774C7DC|PANE__TAG" val="_"/>
</p:tagLst>
</file>

<file path=ppt/tags/tag27.xml><?xml version="1.0" encoding="utf-8"?>
<p:tagLst xmlns:p="http://schemas.openxmlformats.org/presentationml/2006/main">
  <p:tag name="_INSTRUCTOR VIEW19C14C36-AC8E-43BC-9DB6-C2AAF774C7DC|PANE__TAG" val="_"/>
</p:tagLst>
</file>

<file path=ppt/tags/tag28.xml><?xml version="1.0" encoding="utf-8"?>
<p:tagLst xmlns:p="http://schemas.openxmlformats.org/presentationml/2006/main">
  <p:tag name="_INSTRUCTOR VIEW19C14C36-AC8E-43BC-9DB6-C2AAF774C7DC|PANE__TAG" val="_"/>
</p:tagLst>
</file>

<file path=ppt/tags/tag29.xml><?xml version="1.0" encoding="utf-8"?>
<p:tagLst xmlns:p="http://schemas.openxmlformats.org/presentationml/2006/main">
  <p:tag name="TIMING" val="|46.2"/>
</p:tagLst>
</file>

<file path=ppt/tags/tag30.xml><?xml version="1.0" encoding="utf-8"?>
<p:tagLst xmlns:p="http://schemas.openxmlformats.org/presentationml/2006/main">
  <p:tag name="TIMING" val="|42.6|53.8|13.6|26.6|12.3|31.4"/>
</p:tagLst>
</file>

<file path=ppt/tags/tag31.xml><?xml version="1.0" encoding="utf-8"?>
<p:tagLst xmlns:p="http://schemas.openxmlformats.org/presentationml/2006/main">
  <p:tag name="TIMING" val="|24.6"/>
</p:tagLst>
</file>

<file path=ppt/tags/tag32.xml><?xml version="1.0" encoding="utf-8"?>
<p:tagLst xmlns:p="http://schemas.openxmlformats.org/presentationml/2006/main">
  <p:tag name="_INSTRUCTOR VIEW19C14C36-AC8E-43BC-9DB6-C2AAF774C7DC|PANE__TAG" val="_"/>
</p:tagLst>
</file>

<file path=ppt/tags/tag33.xml><?xml version="1.0" encoding="utf-8"?>
<p:tagLst xmlns:p="http://schemas.openxmlformats.org/presentationml/2006/main">
  <p:tag name="_INSTRUCTOR VIEW19C14C36-AC8E-43BC-9DB6-C2AAF774C7DC|PANE__TAG" val="_"/>
</p:tagLst>
</file>

<file path=ppt/tags/tag34.xml><?xml version="1.0" encoding="utf-8"?>
<p:tagLst xmlns:p="http://schemas.openxmlformats.org/presentationml/2006/main">
  <p:tag name="TIMING" val="|23.1|9.9"/>
</p:tagLst>
</file>

<file path=ppt/tags/tag35.xml><?xml version="1.0" encoding="utf-8"?>
<p:tagLst xmlns:p="http://schemas.openxmlformats.org/presentationml/2006/main">
  <p:tag name="_INSTRUCTOR VIEW19C14C36-AC8E-43BC-9DB6-C2AAF774C7DC|PANE__TAG" val="_"/>
</p:tagLst>
</file>

<file path=ppt/tags/tag36.xml><?xml version="1.0" encoding="utf-8"?>
<p:tagLst xmlns:p="http://schemas.openxmlformats.org/presentationml/2006/main">
  <p:tag name="_INSTRUCTOR VIEW19C14C36-AC8E-43BC-9DB6-C2AAF774C7DC|PANE__TAG" val="_"/>
</p:tagLst>
</file>

<file path=ppt/tags/tag37.xml><?xml version="1.0" encoding="utf-8"?>
<p:tagLst xmlns:p="http://schemas.openxmlformats.org/presentationml/2006/main">
  <p:tag name="_INSTRUCTOR VIEW19C14C36-AC8E-43BC-9DB6-C2AAF774C7DC|PANE__TAG" val="_"/>
</p:tagLst>
</file>

<file path=ppt/tags/tag38.xml><?xml version="1.0" encoding="utf-8"?>
<p:tagLst xmlns:p="http://schemas.openxmlformats.org/presentationml/2006/main">
  <p:tag name="_INSTRUCTOR VIEW19C14C36-AC8E-43BC-9DB6-C2AAF774C7DC|PANE__TAG" val="_"/>
</p:tagLst>
</file>

<file path=ppt/tags/tag39.xml><?xml version="1.0" encoding="utf-8"?>
<p:tagLst xmlns:p="http://schemas.openxmlformats.org/presentationml/2006/main">
  <p:tag name="_INSTRUCTOR VIEW19C14C36-AC8E-43BC-9DB6-C2AAF774C7DC|PANE__TAG" val="_"/>
</p:tagLst>
</file>

<file path=ppt/tags/tag40.xml><?xml version="1.0" encoding="utf-8"?>
<p:tagLst xmlns:p="http://schemas.openxmlformats.org/presentationml/2006/main">
  <p:tag name="_INSTRUCTOR VIEW19C14C36-AC8E-43BC-9DB6-C2AAF774C7DC|PANE__TAG" val="_"/>
</p:tagLst>
</file>

<file path=ppt/tags/tag41.xml><?xml version="1.0" encoding="utf-8"?>
<p:tagLst xmlns:p="http://schemas.openxmlformats.org/presentationml/2006/main">
  <p:tag name="TIMING" val="|7.4|17.8|15.9|29.3|22.5"/>
</p:tagLst>
</file>

<file path=ppt/tags/tag42.xml><?xml version="1.0" encoding="utf-8"?>
<p:tagLst xmlns:p="http://schemas.openxmlformats.org/presentationml/2006/main">
  <p:tag name="_INSTRUCTOR VIEW19C14C36-AC8E-43BC-9DB6-C2AAF774C7DC|PANE__TAG" val="_"/>
</p:tagLst>
</file>

<file path=ppt/tags/tag43.xml><?xml version="1.0" encoding="utf-8"?>
<p:tagLst xmlns:p="http://schemas.openxmlformats.org/presentationml/2006/main">
  <p:tag name="_INSTRUCTOR VIEW19C14C36-AC8E-43BC-9DB6-C2AAF774C7DC|PANE__TAG" val="_"/>
</p:tagLst>
</file>

<file path=ppt/tags/tag44.xml><?xml version="1.0" encoding="utf-8"?>
<p:tagLst xmlns:p="http://schemas.openxmlformats.org/presentationml/2006/main">
  <p:tag name="_INSTRUCTOR VIEW19C14C36-AC8E-43BC-9DB6-C2AAF774C7DC|PANE__TAG" val="Instructor"/>
</p:tagLst>
</file>

<file path=ppt/tags/tag45.xml><?xml version="1.0" encoding="utf-8"?>
<p:tagLst xmlns:p="http://schemas.openxmlformats.org/presentationml/2006/main">
  <p:tag name="TIMING" val="|9.1|9.4"/>
</p:tagLst>
</file>

<file path=ppt/tags/tag46.xml><?xml version="1.0" encoding="utf-8"?>
<p:tagLst xmlns:p="http://schemas.openxmlformats.org/presentationml/2006/main">
  <p:tag name="_INSTRUCTOR VIEW19C14C36-AC8E-43BC-9DB6-C2AAF774C7DC|PANE__TAG" val="_"/>
</p:tagLst>
</file>

<file path=ppt/tags/tag47.xml><?xml version="1.0" encoding="utf-8"?>
<p:tagLst xmlns:p="http://schemas.openxmlformats.org/presentationml/2006/main">
  <p:tag name="_INSTRUCTOR VIEW19C14C36-AC8E-43BC-9DB6-C2AAF774C7DC|PANE__TAG" val="_"/>
</p:tagLst>
</file>

<file path=ppt/tags/tag48.xml><?xml version="1.0" encoding="utf-8"?>
<p:tagLst xmlns:p="http://schemas.openxmlformats.org/presentationml/2006/main">
  <p:tag name="TIMING" val="|29.7|29.2|64.4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6987</Words>
  <Application>WPS 演示</Application>
  <PresentationFormat>宽屏</PresentationFormat>
  <Paragraphs>887</Paragraphs>
  <Slides>26</Slides>
  <Notes>15</Notes>
  <HiddenSlides>2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26</vt:i4>
      </vt:variant>
    </vt:vector>
  </HeadingPairs>
  <TitlesOfParts>
    <vt:vector size="54" baseType="lpstr">
      <vt:lpstr>Arial</vt:lpstr>
      <vt:lpstr>宋体</vt:lpstr>
      <vt:lpstr>Wingdings</vt:lpstr>
      <vt:lpstr>幼圆</vt:lpstr>
      <vt:lpstr>等线</vt:lpstr>
      <vt:lpstr>微软雅黑</vt:lpstr>
      <vt:lpstr>楷体</vt:lpstr>
      <vt:lpstr>Georgia</vt:lpstr>
      <vt:lpstr>Courier New</vt:lpstr>
      <vt:lpstr>等线 Light</vt:lpstr>
      <vt:lpstr>Calibri</vt:lpstr>
      <vt:lpstr>Arial Unicode MS</vt:lpstr>
      <vt:lpstr>Calibri Light</vt:lpstr>
      <vt:lpstr>D-DINExp</vt:lpstr>
      <vt:lpstr>Segoe Print</vt:lpstr>
      <vt:lpstr>Cambria Math</vt:lpstr>
      <vt:lpstr>Times New Roman</vt:lpstr>
      <vt:lpstr>Arial Narrow</vt:lpstr>
      <vt:lpstr>Verdana</vt:lpstr>
      <vt:lpstr>Office 主题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PowerPoint 演示文稿</vt:lpstr>
      <vt:lpstr>CISC       RISC          </vt:lpstr>
      <vt:lpstr>MIPS 体系结构设计的4个准则</vt:lpstr>
      <vt:lpstr>MIPS 指 令 集</vt:lpstr>
      <vt:lpstr>操作数：寄存器、存储器、常数</vt:lpstr>
      <vt:lpstr>操作数：寄存器、存储器、常数</vt:lpstr>
      <vt:lpstr>操作数：寄存器、存储器、常数</vt:lpstr>
      <vt:lpstr>MIPS指令集3种指令格式</vt:lpstr>
      <vt:lpstr>① Register 型</vt:lpstr>
      <vt:lpstr>② Immediate 型</vt:lpstr>
      <vt:lpstr>③ Jump 型</vt:lpstr>
      <vt:lpstr>③ Jump 型</vt:lpstr>
      <vt:lpstr>① 逻辑指令</vt:lpstr>
      <vt:lpstr>② 移位指令</vt:lpstr>
      <vt:lpstr>② 移位指令</vt:lpstr>
      <vt:lpstr>③ 生成常数指令</vt:lpstr>
      <vt:lpstr>④ 乘法指令、除法指令</vt:lpstr>
      <vt:lpstr>⑤ 条件分支指令</vt:lpstr>
      <vt:lpstr>⑥ 无条件分支指令</vt:lpstr>
      <vt:lpstr>⑦ 设置小于指令</vt:lpstr>
      <vt:lpstr>if 语句</vt:lpstr>
      <vt:lpstr>while 语句</vt:lpstr>
      <vt:lpstr>for 语句</vt:lpstr>
      <vt:lpstr>MIPS 寻址方式</vt:lpstr>
      <vt:lpstr>高级语言  汇编代码  机器代码</vt:lpstr>
      <vt:lpstr>OS将可执行文件从硬盘装入内存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计算机体系结构 Computer Architecture</dc:title>
  <dc:creator>Sam</dc:creator>
  <cp:lastModifiedBy>陈一璟</cp:lastModifiedBy>
  <cp:revision>458</cp:revision>
  <dcterms:created xsi:type="dcterms:W3CDTF">2017-01-28T01:03:00Z</dcterms:created>
  <dcterms:modified xsi:type="dcterms:W3CDTF">2026-05-08T10:37:15Z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1B242F8A5AFF4FEFAAF2E05248D30B8C_12</vt:lpwstr>
  </property>
  <property fmtid="{D5CDD505-2E9C-101B-9397-08002B2CF9AE}" pid="3" name="KSOProductBuildVer">
    <vt:lpwstr>2052-12.1.0.23542</vt:lpwstr>
  </property>
</Properties>
</file>
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74" r:id="rId5"/>
    <p:sldId id="275" r:id="rId6"/>
    <p:sldId id="286" r:id="rId7"/>
    <p:sldId id="287" r:id="rId8"/>
    <p:sldId id="292" r:id="rId9"/>
    <p:sldId id="280" r:id="rId10"/>
    <p:sldId id="281" r:id="rId11"/>
    <p:sldId id="288" r:id="rId12"/>
    <p:sldId id="28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76240" autoAdjust="0"/>
  </p:normalViewPr>
  <p:slideViewPr>
    <p:cSldViewPr snapToGrid="0">
      <p:cViewPr varScale="1">
        <p:scale>
          <a:sx n="94" d="100"/>
          <a:sy n="94" d="100"/>
        </p:scale>
        <p:origin x="151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D7CBA-DD40-481C-A623-88CBC0C60DB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6FDF89-FC63-43D8-98DE-4A7FC8865E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2025/3/18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365235" y="286297"/>
            <a:ext cx="10515600" cy="1325563"/>
          </a:xfrm>
        </p:spPr>
        <p:txBody>
          <a:bodyPr>
            <a:normAutofit/>
          </a:bodyPr>
          <a:lstStyle>
            <a:lvl1pPr>
              <a:defRPr sz="3200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dirty="0"/>
              <a:t>2025/2/25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9DC44-24E9-4CBB-887C-6FDFD2B8B4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timgsa.baidu.com/timg?image&amp;quality=80&amp;size=b9999_10000&amp;sec=1486706539526&amp;di=79ff7f14d79ab459b5a7e54209358ed7&amp;imgtype=0&amp;src=http%3A%2F%2Fb.hiphotos.baidu.com%2Fbaike%2Fs%3D220%2Fsign%3Db8f5950d0afa513d55aa6bdc0d6c554c%2F3b87e950352ac65c394266a2f9f2b21192138a9f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" y="5976624"/>
            <a:ext cx="756000" cy="759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2379590" y="1235029"/>
            <a:ext cx="743281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spc="300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计算机体系结构实验</a:t>
            </a:r>
            <a:endParaRPr lang="en-US" altLang="zh-CN" sz="3600" b="1" spc="300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endParaRPr lang="en-US" altLang="zh-CN" sz="2800" b="1" spc="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algn="ctr"/>
            <a:r>
              <a:rPr lang="en-US" altLang="zh-CN" sz="2800" b="1" spc="300" dirty="0">
                <a:solidFill>
                  <a:prstClr val="black"/>
                </a:solidFill>
                <a:latin typeface="+mj-ea"/>
                <a:ea typeface="+mj-ea"/>
              </a:rPr>
              <a:t>Lab1-5: FPGA</a:t>
            </a:r>
            <a:r>
              <a:rPr lang="zh-CN" altLang="en-US" sz="2800" b="1" spc="300" dirty="0">
                <a:solidFill>
                  <a:prstClr val="black"/>
                </a:solidFill>
                <a:latin typeface="+mj-ea"/>
                <a:ea typeface="+mj-ea"/>
              </a:rPr>
              <a:t>环境下的</a:t>
            </a:r>
            <a:r>
              <a:rPr lang="en-US" altLang="zh-CN" sz="2800" b="1" spc="300" dirty="0">
                <a:solidFill>
                  <a:prstClr val="black"/>
                </a:solidFill>
                <a:latin typeface="+mj-ea"/>
                <a:ea typeface="+mj-ea"/>
              </a:rPr>
              <a:t>ALU</a:t>
            </a:r>
            <a:r>
              <a:rPr lang="zh-CN" altLang="en-US" sz="2800" b="1" spc="300" dirty="0">
                <a:solidFill>
                  <a:prstClr val="black"/>
                </a:solidFill>
                <a:latin typeface="+mj-ea"/>
                <a:ea typeface="+mj-ea"/>
              </a:rPr>
              <a:t>实现</a:t>
            </a:r>
            <a:endParaRPr lang="en-US" altLang="zh-CN" sz="2800" b="1" spc="3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53994" y="3587900"/>
            <a:ext cx="404396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主讲老师：刘森</a:t>
            </a:r>
            <a:endParaRPr lang="en-US" altLang="zh-CN" sz="2400" dirty="0"/>
          </a:p>
          <a:p>
            <a:pPr algn="ctr"/>
            <a:endParaRPr lang="en-US" altLang="zh-CN" sz="2400" dirty="0"/>
          </a:p>
          <a:p>
            <a:pPr algn="ctr"/>
            <a:r>
              <a:rPr lang="zh-CN" altLang="en-US" sz="2400" dirty="0"/>
              <a:t>助教：薛敏坤</a:t>
            </a:r>
            <a:r>
              <a:rPr lang="en-US" altLang="zh-CN" sz="2400" dirty="0"/>
              <a:t> </a:t>
            </a:r>
            <a:r>
              <a:rPr lang="zh-CN" altLang="en-US" sz="2400" dirty="0"/>
              <a:t>赵珂</a:t>
            </a:r>
            <a:r>
              <a:rPr lang="zh-CN" altLang="en-US" sz="2400" dirty="0"/>
              <a:t>玉</a:t>
            </a:r>
            <a:endParaRPr lang="zh-CN" altLang="en-US" sz="24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2026/4/10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2026/4/10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1. </a:t>
            </a:r>
            <a:r>
              <a:rPr lang="zh-CN" altLang="en-US" sz="3200" dirty="0">
                <a:latin typeface="+mj-ea"/>
                <a:ea typeface="+mj-ea"/>
              </a:rPr>
              <a:t>实验目标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407956" y="2301933"/>
            <a:ext cx="8717733" cy="1585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1500"/>
              </a:spcAft>
              <a:buFont typeface="+mj-lt"/>
              <a:buAutoNum type="arabicPeriod"/>
            </a:pPr>
            <a:r>
              <a:rPr lang="zh-CN" altLang="en-US" sz="2400" b="0" i="0" dirty="0">
                <a:effectLst/>
                <a:latin typeface="+mn-ea"/>
              </a:rPr>
              <a:t>整合完整</a:t>
            </a:r>
            <a:r>
              <a:rPr lang="en-US" altLang="zh-CN" sz="2400" b="0" i="0" dirty="0">
                <a:effectLst/>
                <a:latin typeface="+mn-ea"/>
              </a:rPr>
              <a:t>4</a:t>
            </a:r>
            <a:r>
              <a:rPr lang="zh-CN" altLang="en-US" sz="2400" b="0" i="0" dirty="0">
                <a:effectLst/>
                <a:latin typeface="+mn-ea"/>
              </a:rPr>
              <a:t>位</a:t>
            </a:r>
            <a:r>
              <a:rPr lang="en-US" altLang="zh-CN" sz="2400" b="0" i="0" dirty="0">
                <a:effectLst/>
                <a:latin typeface="+mn-ea"/>
              </a:rPr>
              <a:t>ALU</a:t>
            </a:r>
            <a:endParaRPr lang="en-US" altLang="zh-CN" sz="2400" b="0" i="0" dirty="0">
              <a:effectLst/>
              <a:latin typeface="+mn-ea"/>
            </a:endParaRPr>
          </a:p>
          <a:p>
            <a:pPr algn="l">
              <a:spcAft>
                <a:spcPts val="1500"/>
              </a:spcAft>
              <a:buFont typeface="+mj-lt"/>
              <a:buAutoNum type="arabicPeriod"/>
            </a:pPr>
            <a:r>
              <a:rPr lang="zh-CN" altLang="en-US" sz="2400" dirty="0">
                <a:latin typeface="+mn-ea"/>
              </a:rPr>
              <a:t>烧录到实验板中进行测试</a:t>
            </a:r>
            <a:endParaRPr lang="en-US" altLang="zh-CN" sz="2400" b="0" i="0" dirty="0">
              <a:effectLst/>
              <a:latin typeface="+mn-ea"/>
            </a:endParaRPr>
          </a:p>
          <a:p>
            <a:endParaRPr lang="zh-CN" altLang="en-US" sz="2400" dirty="0">
              <a:latin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8200" y="1519844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在提供的实验板下，完成以下目标：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2. </a:t>
            </a:r>
            <a:r>
              <a:rPr lang="zh-CN" altLang="en-US" sz="3200" dirty="0">
                <a:latin typeface="+mj-ea"/>
                <a:ea typeface="+mj-ea"/>
              </a:rPr>
              <a:t>实验任务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210" y="1288473"/>
            <a:ext cx="8633803" cy="5067877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2026/4/10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2. </a:t>
            </a:r>
            <a:r>
              <a:rPr lang="zh-CN" altLang="en-US" sz="3200" dirty="0">
                <a:latin typeface="+mj-ea"/>
                <a:ea typeface="+mj-ea"/>
              </a:rPr>
              <a:t>实验任务</a:t>
            </a:r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1108363" y="1734473"/>
            <a:ext cx="9975273" cy="3573585"/>
            <a:chOff x="1311165" y="1360400"/>
            <a:chExt cx="9975273" cy="3573585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11165" y="1360400"/>
              <a:ext cx="9975273" cy="3573585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3394364" y="2479964"/>
              <a:ext cx="942109" cy="37407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2026/4/10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3. </a:t>
            </a:r>
            <a:r>
              <a:rPr lang="zh-CN" altLang="en-US" sz="3200" dirty="0">
                <a:latin typeface="+mj-ea"/>
                <a:ea typeface="+mj-ea"/>
              </a:rPr>
              <a:t>实验</a:t>
            </a:r>
            <a:r>
              <a:rPr lang="zh-CN" altLang="en-US" dirty="0"/>
              <a:t>要求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25237" y="1204957"/>
            <a:ext cx="10363200" cy="5008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根据 </a:t>
            </a:r>
            <a:r>
              <a:rPr lang="en-US" altLang="zh-CN" sz="2400" dirty="0"/>
              <a:t>ALU </a:t>
            </a:r>
            <a:r>
              <a:rPr lang="zh-CN" altLang="en-US" sz="2400" dirty="0"/>
              <a:t>原理图</a:t>
            </a:r>
            <a:r>
              <a:rPr lang="en-US" altLang="zh-CN" sz="2400" dirty="0"/>
              <a:t>(</a:t>
            </a:r>
            <a:r>
              <a:rPr lang="zh-CN" altLang="en-US" sz="2400" dirty="0"/>
              <a:t>图 </a:t>
            </a:r>
            <a:r>
              <a:rPr lang="en-US" altLang="zh-CN" sz="2400" dirty="0"/>
              <a:t>1)</a:t>
            </a:r>
            <a:r>
              <a:rPr lang="zh-CN" altLang="en-US" sz="2400" dirty="0"/>
              <a:t>，使用 </a:t>
            </a:r>
            <a:r>
              <a:rPr lang="en-US" altLang="zh-CN" sz="2400" dirty="0"/>
              <a:t>Verilog </a:t>
            </a:r>
            <a:r>
              <a:rPr lang="zh-CN" altLang="en-US" sz="2400" dirty="0"/>
              <a:t>语言定义 </a:t>
            </a:r>
            <a:r>
              <a:rPr lang="en-US" altLang="zh-CN" sz="2400" dirty="0"/>
              <a:t>ALU </a:t>
            </a:r>
            <a:r>
              <a:rPr lang="zh-CN" altLang="en-US" sz="2400" dirty="0"/>
              <a:t>模块，其中输入输出端口参考实验原理，运算指令码长度为 </a:t>
            </a:r>
            <a:r>
              <a:rPr lang="en-US" altLang="zh-CN" sz="2400" dirty="0"/>
              <a:t>[2:0]</a:t>
            </a:r>
            <a:r>
              <a:rPr lang="zh-CN" altLang="en-US" sz="2400" dirty="0"/>
              <a:t>。  </a:t>
            </a:r>
            <a:endParaRPr lang="zh-CN" altLang="en-US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内置一个 </a:t>
            </a:r>
            <a:r>
              <a:rPr lang="en-US" altLang="zh-CN" sz="2400" dirty="0"/>
              <a:t>32 </a:t>
            </a:r>
            <a:r>
              <a:rPr lang="zh-CN" altLang="en-US" sz="2400" dirty="0"/>
              <a:t>位 </a:t>
            </a:r>
            <a:r>
              <a:rPr lang="en-US" altLang="zh-CN" sz="2400" dirty="0"/>
              <a:t>num2</a:t>
            </a:r>
            <a:r>
              <a:rPr lang="zh-CN" altLang="en-US" sz="2400" dirty="0"/>
              <a:t>（</a:t>
            </a:r>
            <a:r>
              <a:rPr lang="zh-CN" altLang="en-US" sz="2400" dirty="0">
                <a:highlight>
                  <a:srgbClr val="FFFF00"/>
                </a:highlight>
              </a:rPr>
              <a:t>值为 </a:t>
            </a:r>
            <a:r>
              <a:rPr lang="en-US" altLang="zh-CN" sz="2400" dirty="0">
                <a:highlight>
                  <a:srgbClr val="FFFF00"/>
                </a:highlight>
              </a:rPr>
              <a:t>32’h03</a:t>
            </a:r>
            <a:r>
              <a:rPr lang="zh-CN" altLang="en-US" sz="2400" dirty="0"/>
              <a:t>）作为输入到运算器端口 </a:t>
            </a:r>
            <a:r>
              <a:rPr lang="en-US" altLang="zh-CN" sz="2400" dirty="0"/>
              <a:t>A</a:t>
            </a:r>
            <a:r>
              <a:rPr lang="zh-CN" altLang="en-US" sz="2400" dirty="0"/>
              <a:t>；  </a:t>
            </a:r>
            <a:endParaRPr lang="zh-CN" altLang="en-US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将 </a:t>
            </a:r>
            <a:r>
              <a:rPr lang="en-US" altLang="zh-CN" sz="2400" dirty="0"/>
              <a:t>sw0~sw7 (sw7</a:t>
            </a:r>
            <a:r>
              <a:rPr lang="zh-CN" altLang="en-US" sz="2400" dirty="0"/>
              <a:t>为高位</a:t>
            </a:r>
            <a:r>
              <a:rPr lang="en-US" altLang="zh-CN" sz="2400" dirty="0"/>
              <a:t>)</a:t>
            </a:r>
            <a:r>
              <a:rPr lang="zh-CN" altLang="en-US" sz="2400" dirty="0"/>
              <a:t>输入 </a:t>
            </a:r>
            <a:r>
              <a:rPr lang="en-US" altLang="zh-CN" sz="2400" dirty="0"/>
              <a:t>num1</a:t>
            </a:r>
            <a:r>
              <a:rPr lang="zh-CN" altLang="en-US" sz="2400" dirty="0"/>
              <a:t>，经过符号扩展至 </a:t>
            </a:r>
            <a:r>
              <a:rPr lang="en-US" altLang="zh-CN" sz="2400" dirty="0"/>
              <a:t>32 </a:t>
            </a:r>
            <a:r>
              <a:rPr lang="zh-CN" altLang="en-US" sz="2400" dirty="0"/>
              <a:t>位后，输入到运算器的端口 </a:t>
            </a:r>
            <a:r>
              <a:rPr lang="en-US" altLang="zh-CN" sz="2400" dirty="0"/>
              <a:t>B</a:t>
            </a:r>
            <a:r>
              <a:rPr lang="zh-CN" altLang="en-US" sz="2400" dirty="0"/>
              <a:t>；  </a:t>
            </a:r>
            <a:endParaRPr lang="zh-CN" altLang="en-US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运算器支持“加、减、与、或、取反、比较大小”</a:t>
            </a:r>
            <a:r>
              <a:rPr lang="en-US" altLang="zh-CN" sz="2400" dirty="0"/>
              <a:t>6 </a:t>
            </a:r>
            <a:r>
              <a:rPr lang="zh-CN" altLang="en-US" sz="2400" dirty="0"/>
              <a:t>种运算，需要 </a:t>
            </a:r>
            <a:r>
              <a:rPr lang="en-US" altLang="zh-CN" sz="2400" dirty="0"/>
              <a:t>3 </a:t>
            </a:r>
            <a:r>
              <a:rPr lang="zh-CN" altLang="en-US" sz="2400" dirty="0"/>
              <a:t>位数控制。将 </a:t>
            </a:r>
            <a:r>
              <a:rPr lang="en-US" altLang="zh-CN" sz="2400" dirty="0"/>
              <a:t>sw15</a:t>
            </a:r>
            <a:r>
              <a:rPr lang="zh-CN" altLang="en-US" sz="2400" dirty="0"/>
              <a:t>作为</a:t>
            </a:r>
            <a:r>
              <a:rPr lang="en-US" altLang="zh-CN" sz="2400" dirty="0"/>
              <a:t>reset</a:t>
            </a:r>
            <a:r>
              <a:rPr lang="zh-CN" altLang="en-US" sz="2400" dirty="0"/>
              <a:t>复位信号，高电平有效。</a:t>
            </a:r>
            <a:r>
              <a:rPr lang="en-US" altLang="zh-CN" sz="2400" dirty="0"/>
              <a:t>sw12~sw14(sw14</a:t>
            </a:r>
            <a:r>
              <a:rPr lang="zh-CN" altLang="en-US" sz="2400" dirty="0"/>
              <a:t>为高位</a:t>
            </a:r>
            <a:r>
              <a:rPr lang="en-US" altLang="zh-CN" sz="2400" dirty="0"/>
              <a:t>)</a:t>
            </a:r>
            <a:r>
              <a:rPr lang="zh-CN" altLang="en-US" sz="2400" dirty="0"/>
              <a:t>到 </a:t>
            </a:r>
            <a:r>
              <a:rPr lang="en-US" altLang="zh-CN" sz="2400" dirty="0"/>
              <a:t>op </a:t>
            </a:r>
            <a:r>
              <a:rPr lang="zh-CN" altLang="en-US" sz="2400" dirty="0"/>
              <a:t>作为运算器的控制信号；  </a:t>
            </a:r>
            <a:endParaRPr lang="zh-CN" altLang="en-US" sz="24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将计算 </a:t>
            </a:r>
            <a:r>
              <a:rPr lang="en-US" altLang="zh-CN" sz="2400" dirty="0"/>
              <a:t>32 </a:t>
            </a:r>
            <a:r>
              <a:rPr lang="zh-CN" altLang="en-US" sz="2400" dirty="0"/>
              <a:t>位结果 </a:t>
            </a:r>
            <a:r>
              <a:rPr lang="en-US" altLang="zh-CN" sz="2400" dirty="0"/>
              <a:t>s </a:t>
            </a:r>
            <a:r>
              <a:rPr lang="zh-CN" altLang="en-US" sz="2400" dirty="0"/>
              <a:t>显示到七段数码管（</a:t>
            </a:r>
            <a:r>
              <a:rPr lang="en-US" altLang="zh-CN" sz="2400" dirty="0"/>
              <a:t>16 </a:t>
            </a:r>
            <a:r>
              <a:rPr lang="zh-CN" altLang="en-US" sz="2400" dirty="0"/>
              <a:t>进制）。  </a:t>
            </a:r>
            <a:endParaRPr lang="zh-CN" altLang="en-US" sz="240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2026/4/10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+mj-ea"/>
                <a:ea typeface="+mj-ea"/>
              </a:rPr>
              <a:t>Section 4. </a:t>
            </a:r>
            <a:r>
              <a:rPr lang="zh-CN" altLang="en-US" sz="3200" dirty="0">
                <a:latin typeface="+mj-ea"/>
                <a:ea typeface="+mj-ea"/>
              </a:rPr>
              <a:t>实验预期结果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233505" y="5400741"/>
            <a:ext cx="424095" cy="2897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9337" y="1368617"/>
            <a:ext cx="5744756" cy="520308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2026/4/10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i="0" dirty="0">
                <a:effectLst/>
                <a:latin typeface="+mj-ea"/>
                <a:ea typeface="+mj-ea"/>
              </a:rPr>
              <a:t>实验提交</a:t>
            </a:r>
            <a:r>
              <a:rPr lang="zh-CN" altLang="en-US" sz="3200" b="1" dirty="0">
                <a:latin typeface="+mj-ea"/>
                <a:ea typeface="+mj-ea"/>
              </a:rPr>
              <a:t>要求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57923" y="1602483"/>
            <a:ext cx="11561234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US" altLang="zh-CN" sz="2400" b="1" i="0" dirty="0">
                <a:effectLst/>
                <a:latin typeface="+mj-ea"/>
                <a:ea typeface="+mj-ea"/>
              </a:rPr>
              <a:t>1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  <a:r>
              <a:rPr lang="en-US" altLang="zh-CN" sz="2400" b="1" i="0" dirty="0">
                <a:effectLst/>
                <a:latin typeface="+mj-ea"/>
                <a:ea typeface="+mj-ea"/>
              </a:rPr>
              <a:t> </a:t>
            </a:r>
            <a:r>
              <a:rPr lang="zh-CN" altLang="en-US" sz="2400" b="1" i="0" dirty="0">
                <a:effectLst/>
                <a:latin typeface="+mj-ea"/>
                <a:ea typeface="+mj-ea"/>
              </a:rPr>
              <a:t>提交文件</a:t>
            </a:r>
            <a:endParaRPr lang="en-US" altLang="zh-CN" sz="2400" b="1" i="0" dirty="0">
              <a:effectLst/>
              <a:latin typeface="+mj-ea"/>
              <a:ea typeface="+mj-ea"/>
            </a:endParaRPr>
          </a:p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zh-CN" altLang="en-US" sz="2400" b="0" i="0" dirty="0">
                <a:effectLst/>
                <a:latin typeface="D-DINExp"/>
              </a:rPr>
              <a:t>提交整个</a:t>
            </a:r>
            <a:r>
              <a:rPr lang="en-US" altLang="zh-CN" sz="2400" b="0" i="0" dirty="0" err="1">
                <a:effectLst/>
                <a:latin typeface="D-DINExp"/>
              </a:rPr>
              <a:t>Vivado</a:t>
            </a:r>
            <a:r>
              <a:rPr lang="zh-CN" altLang="en-US" sz="2400" b="0" i="0" dirty="0">
                <a:effectLst/>
                <a:latin typeface="D-DINExp"/>
              </a:rPr>
              <a:t>项目文件和</a:t>
            </a:r>
            <a:r>
              <a:rPr lang="en-US" altLang="zh-CN" sz="2400" b="0" i="0" dirty="0">
                <a:effectLst/>
                <a:latin typeface="D-DINExp"/>
              </a:rPr>
              <a:t>PDF</a:t>
            </a:r>
            <a:r>
              <a:rPr lang="zh-CN" altLang="en-US" sz="2400" b="0" i="0" dirty="0">
                <a:effectLst/>
                <a:latin typeface="D-DINExp"/>
              </a:rPr>
              <a:t>版实验报告</a:t>
            </a:r>
            <a:r>
              <a:rPr lang="zh-CN" altLang="en-US" sz="2400" dirty="0">
                <a:latin typeface="D-DINExp"/>
              </a:rPr>
              <a:t>，压缩为一个</a:t>
            </a:r>
            <a:r>
              <a:rPr lang="en-US" altLang="zh-CN" sz="2400" dirty="0">
                <a:latin typeface="D-DINExp"/>
              </a:rPr>
              <a:t>zip</a:t>
            </a:r>
            <a:r>
              <a:rPr lang="zh-CN" altLang="en-US" sz="2400" dirty="0">
                <a:latin typeface="D-DINExp"/>
              </a:rPr>
              <a:t>压缩包</a:t>
            </a:r>
            <a:endParaRPr lang="en-US" altLang="zh-CN" sz="2400" b="0" i="0" dirty="0">
              <a:effectLst/>
              <a:latin typeface="D-DINExp"/>
            </a:endParaRPr>
          </a:p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en-US" altLang="zh-CN" sz="2400" b="1" i="0" dirty="0">
                <a:effectLst/>
                <a:latin typeface="D-DINExp"/>
              </a:rPr>
              <a:t>2. </a:t>
            </a:r>
            <a:r>
              <a:rPr lang="zh-CN" altLang="en-US" sz="2400" b="1" dirty="0">
                <a:latin typeface="+mj-ea"/>
                <a:ea typeface="+mj-ea"/>
              </a:rPr>
              <a:t>命名</a:t>
            </a:r>
            <a:r>
              <a:rPr lang="zh-CN" altLang="en-US" sz="2400" b="1" i="0" dirty="0">
                <a:effectLst/>
                <a:latin typeface="+mj-ea"/>
                <a:ea typeface="+mj-ea"/>
              </a:rPr>
              <a:t>要求</a:t>
            </a:r>
            <a:endParaRPr lang="en-US" altLang="zh-CN" sz="2400" b="1" i="0" dirty="0">
              <a:effectLst/>
              <a:latin typeface="+mj-ea"/>
              <a:ea typeface="+mj-ea"/>
            </a:endParaRPr>
          </a:p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zh-CN" altLang="en-US" sz="2400" dirty="0">
                <a:latin typeface="+mn-ea"/>
              </a:rPr>
              <a:t>将</a:t>
            </a:r>
            <a:r>
              <a:rPr lang="en-US" altLang="zh-CN" sz="2400" dirty="0">
                <a:latin typeface="+mn-ea"/>
              </a:rPr>
              <a:t>zip</a:t>
            </a:r>
            <a:r>
              <a:rPr lang="zh-CN" altLang="en-US" sz="2400" dirty="0">
                <a:latin typeface="+mn-ea"/>
              </a:rPr>
              <a:t>压缩包重命名为</a:t>
            </a:r>
            <a:r>
              <a:rPr lang="en-US" altLang="zh-CN" sz="2400" b="1" dirty="0">
                <a:latin typeface="+mj-ea"/>
                <a:ea typeface="+mj-ea"/>
              </a:rPr>
              <a:t>{</a:t>
            </a:r>
            <a:r>
              <a:rPr lang="zh-CN" altLang="en-US" sz="2400" b="1" dirty="0">
                <a:latin typeface="+mj-ea"/>
                <a:ea typeface="+mj-ea"/>
              </a:rPr>
              <a:t>学号</a:t>
            </a:r>
            <a:r>
              <a:rPr lang="en-US" altLang="zh-CN" sz="2400" b="1" dirty="0">
                <a:latin typeface="+mj-ea"/>
                <a:ea typeface="+mj-ea"/>
              </a:rPr>
              <a:t>}_{</a:t>
            </a:r>
            <a:r>
              <a:rPr lang="zh-CN" altLang="en-US" sz="2400" b="1" dirty="0">
                <a:latin typeface="+mj-ea"/>
                <a:ea typeface="+mj-ea"/>
              </a:rPr>
              <a:t>姓名</a:t>
            </a:r>
            <a:r>
              <a:rPr lang="en-US" altLang="zh-CN" sz="2400" b="1" dirty="0">
                <a:latin typeface="+mj-ea"/>
                <a:ea typeface="+mj-ea"/>
              </a:rPr>
              <a:t>}_lab1-5.zip</a:t>
            </a:r>
            <a:r>
              <a:rPr lang="zh-CN" altLang="en-US" sz="2400" dirty="0">
                <a:latin typeface="+mn-ea"/>
              </a:rPr>
              <a:t>，比如</a:t>
            </a:r>
            <a:r>
              <a:rPr lang="en-US" altLang="zh-CN" sz="2400" b="1" dirty="0">
                <a:latin typeface="+mj-ea"/>
                <a:ea typeface="+mj-ea"/>
              </a:rPr>
              <a:t>12345678910_</a:t>
            </a:r>
            <a:r>
              <a:rPr lang="zh-CN" altLang="en-US" sz="2400" b="1" dirty="0">
                <a:latin typeface="+mj-ea"/>
                <a:ea typeface="+mj-ea"/>
              </a:rPr>
              <a:t>张三</a:t>
            </a:r>
            <a:r>
              <a:rPr lang="en-US" altLang="zh-CN" sz="2400" b="1" dirty="0">
                <a:latin typeface="+mj-ea"/>
                <a:ea typeface="+mj-ea"/>
              </a:rPr>
              <a:t>_lab1-5.zip</a:t>
            </a:r>
            <a:endParaRPr lang="zh-CN" altLang="en-US" sz="2400" b="1" i="0" dirty="0">
              <a:effectLst/>
              <a:latin typeface="+mj-ea"/>
              <a:ea typeface="+mj-ea"/>
            </a:endParaRPr>
          </a:p>
          <a:p>
            <a:endParaRPr lang="zh-CN" altLang="en-US" sz="240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2026/4/10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Appendix. 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七段数码管显示原理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057" y="1695231"/>
            <a:ext cx="2931192" cy="346753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094019" y="2706370"/>
            <a:ext cx="76892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effectLst/>
                <a:latin typeface="+mn-ea"/>
              </a:rPr>
              <a:t>七段数码管由七个横条发光二极管（</a:t>
            </a:r>
            <a:r>
              <a:rPr lang="en-US" altLang="zh-CN" sz="2400" b="0" i="0" dirty="0">
                <a:effectLst/>
                <a:latin typeface="+mn-ea"/>
              </a:rPr>
              <a:t>a</a:t>
            </a:r>
            <a:r>
              <a:rPr lang="zh-CN" altLang="en-US" sz="2400" b="0" i="0" dirty="0">
                <a:effectLst/>
                <a:latin typeface="+mn-ea"/>
              </a:rPr>
              <a:t>，</a:t>
            </a:r>
            <a:r>
              <a:rPr lang="en-US" altLang="zh-CN" sz="2400" b="0" i="0" dirty="0">
                <a:effectLst/>
                <a:latin typeface="+mn-ea"/>
              </a:rPr>
              <a:t>b</a:t>
            </a:r>
            <a:r>
              <a:rPr lang="zh-CN" altLang="en-US" sz="2400" b="0" i="0" dirty="0">
                <a:effectLst/>
                <a:latin typeface="+mn-ea"/>
              </a:rPr>
              <a:t>，</a:t>
            </a:r>
            <a:r>
              <a:rPr lang="en-US" altLang="zh-CN" sz="2400" b="0" i="0" dirty="0">
                <a:effectLst/>
                <a:latin typeface="+mn-ea"/>
              </a:rPr>
              <a:t>c</a:t>
            </a:r>
            <a:r>
              <a:rPr lang="zh-CN" altLang="en-US" sz="2400" b="0" i="0" dirty="0">
                <a:effectLst/>
                <a:latin typeface="+mn-ea"/>
              </a:rPr>
              <a:t>，</a:t>
            </a:r>
            <a:r>
              <a:rPr lang="en-US" altLang="zh-CN" sz="2400" b="0" i="0" dirty="0">
                <a:effectLst/>
                <a:latin typeface="+mn-ea"/>
              </a:rPr>
              <a:t>d</a:t>
            </a:r>
            <a:r>
              <a:rPr lang="zh-CN" altLang="en-US" sz="2400" b="0" i="0" dirty="0">
                <a:effectLst/>
                <a:latin typeface="+mn-ea"/>
              </a:rPr>
              <a:t>，</a:t>
            </a:r>
            <a:r>
              <a:rPr lang="en-US" altLang="zh-CN" sz="2400" b="0" i="0" dirty="0">
                <a:effectLst/>
                <a:latin typeface="+mn-ea"/>
              </a:rPr>
              <a:t>e</a:t>
            </a:r>
            <a:r>
              <a:rPr lang="zh-CN" altLang="en-US" sz="2400" b="0" i="0" dirty="0">
                <a:effectLst/>
                <a:latin typeface="+mn-ea"/>
              </a:rPr>
              <a:t>，</a:t>
            </a:r>
            <a:r>
              <a:rPr lang="en-US" altLang="zh-CN" sz="2400" b="0" i="0" dirty="0">
                <a:effectLst/>
                <a:latin typeface="+mn-ea"/>
              </a:rPr>
              <a:t>f</a:t>
            </a:r>
            <a:r>
              <a:rPr lang="zh-CN" altLang="en-US" sz="2400" b="0" i="0" dirty="0">
                <a:effectLst/>
                <a:latin typeface="+mn-ea"/>
              </a:rPr>
              <a:t>，</a:t>
            </a:r>
            <a:r>
              <a:rPr lang="en-US" altLang="zh-CN" sz="2400" b="0" i="0" dirty="0">
                <a:effectLst/>
                <a:latin typeface="+mn-ea"/>
              </a:rPr>
              <a:t>g</a:t>
            </a:r>
            <a:r>
              <a:rPr lang="zh-CN" altLang="en-US" sz="2400" b="0" i="0" dirty="0">
                <a:effectLst/>
                <a:latin typeface="+mn-ea"/>
              </a:rPr>
              <a:t>）和一个圆点发光二极管（</a:t>
            </a:r>
            <a:r>
              <a:rPr lang="en-US" altLang="zh-CN" sz="2400" b="0" i="0" dirty="0">
                <a:effectLst/>
                <a:latin typeface="+mn-ea"/>
              </a:rPr>
              <a:t>h</a:t>
            </a:r>
            <a:r>
              <a:rPr lang="zh-CN" altLang="en-US" sz="2400" b="0" i="0" dirty="0">
                <a:effectLst/>
                <a:latin typeface="+mn-ea"/>
              </a:rPr>
              <a:t>）构成，每一个发光二极管由一位输入控制，共有 </a:t>
            </a:r>
            <a:r>
              <a:rPr lang="en-US" altLang="zh-CN" sz="2400" b="0" i="0" dirty="0">
                <a:effectLst/>
                <a:latin typeface="+mn-ea"/>
              </a:rPr>
              <a:t>8 </a:t>
            </a:r>
            <a:r>
              <a:rPr lang="zh-CN" altLang="en-US" sz="2400" b="0" i="0" dirty="0">
                <a:effectLst/>
                <a:latin typeface="+mn-ea"/>
              </a:rPr>
              <a:t>个信号控制（包括小数点）</a:t>
            </a:r>
            <a:endParaRPr lang="zh-CN" altLang="en-US" sz="2400" dirty="0">
              <a:latin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2026/4/10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Appendix. 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七段数码管显示原理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057" y="1695231"/>
            <a:ext cx="2931192" cy="3467538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1837" y="1304873"/>
            <a:ext cx="5826089" cy="5358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2026/4/10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Appendix. 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七段数码管显示原理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9132" y="949078"/>
            <a:ext cx="5143500" cy="54864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96291"/>
            <a:ext cx="6732711" cy="3255818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dirty="0"/>
              <a:t>2026/4/10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方正小标宋简体"/>
        <a:cs typeface=""/>
      </a:majorFont>
      <a:minorFont>
        <a:latin typeface="Times New Roman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</Words>
  <Application>WPS 演示</Application>
  <PresentationFormat>宽屏</PresentationFormat>
  <Paragraphs>66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幼圆</vt:lpstr>
      <vt:lpstr>D-DINExp</vt:lpstr>
      <vt:lpstr>Segoe Print</vt:lpstr>
      <vt:lpstr>Roboto</vt:lpstr>
      <vt:lpstr>Times New Roman</vt:lpstr>
      <vt:lpstr>方正小标宋简体</vt:lpstr>
      <vt:lpstr>仿宋_GB2312</vt:lpstr>
      <vt:lpstr>微软雅黑</vt:lpstr>
      <vt:lpstr>Arial Unicode MS</vt:lpstr>
      <vt:lpstr>等线</vt:lpstr>
      <vt:lpstr>Office 主题​​</vt:lpstr>
      <vt:lpstr>PowerPoint 演示文稿</vt:lpstr>
      <vt:lpstr>Section 1. 实验目标</vt:lpstr>
      <vt:lpstr>Section 2. 实验任务</vt:lpstr>
      <vt:lpstr>Section 2. 实验任务</vt:lpstr>
      <vt:lpstr>Section 3. 实验要求</vt:lpstr>
      <vt:lpstr>Section 4. 实验预期结果</vt:lpstr>
      <vt:lpstr>实验提交要求</vt:lpstr>
      <vt:lpstr>Appendix. 七段数码管显示原理</vt:lpstr>
      <vt:lpstr>Appendix. 七段数码管显示原理</vt:lpstr>
      <vt:lpstr>Appendix. 七段数码管显示原理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DeLi Huang</dc:creator>
  <cp:lastModifiedBy>陈一璟</cp:lastModifiedBy>
  <cp:revision>23</cp:revision>
  <dcterms:created xsi:type="dcterms:W3CDTF">2026-04-10T01:12:00Z</dcterms:created>
  <dcterms:modified xsi:type="dcterms:W3CDTF">2026-04-10T13:35:36Z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5B6478606A632662CB4DD869CB1D2823_43</vt:lpwstr>
  </property>
  <property fmtid="{D5CDD505-2E9C-101B-9397-08002B2CF9AE}" pid="3" name="KSOProductBuildVer">
    <vt:lpwstr>2052-12.1.0.23542</vt:lpwstr>
  </property>
</Properties>
</file>
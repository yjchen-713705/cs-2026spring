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70" r:id="rId4"/>
    <p:sldId id="272" r:id="rId5"/>
    <p:sldId id="273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5342" autoAdjust="0"/>
  </p:normalViewPr>
  <p:slideViewPr>
    <p:cSldViewPr snapToGrid="0">
      <p:cViewPr varScale="1">
        <p:scale>
          <a:sx n="150" d="100"/>
          <a:sy n="150" d="100"/>
        </p:scale>
        <p:origin x="3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2025/2/25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365235" y="286297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2025/2/25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unoob.com/w3cnote/verilog-basic-synta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379590" y="1235029"/>
            <a:ext cx="74328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Lab1-2:Verilog</a:t>
            </a:r>
            <a:r>
              <a:rPr lang="zh-CN" altLang="en-US" sz="2800" b="1" spc="300" dirty="0">
                <a:solidFill>
                  <a:prstClr val="black"/>
                </a:solidFill>
                <a:latin typeface="+mj-ea"/>
                <a:ea typeface="+mj-ea"/>
              </a:rPr>
              <a:t>环境下实现简单自动机</a:t>
            </a:r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63918" cy="365125"/>
          </a:xfrm>
        </p:spPr>
        <p:txBody>
          <a:bodyPr/>
          <a:lstStyle/>
          <a:p>
            <a:r>
              <a:rPr lang="en-US" altLang="zh-CN" dirty="0"/>
              <a:t>2026/3/20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助教：薛敏坤</a:t>
            </a:r>
            <a:r>
              <a:rPr lang="en-US" altLang="zh-CN" sz="2400" dirty="0"/>
              <a:t> </a:t>
            </a:r>
            <a:r>
              <a:rPr lang="zh-CN" altLang="en-US" sz="2400" dirty="0"/>
              <a:t>赵珂玉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2026/3/20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1. </a:t>
            </a:r>
            <a:r>
              <a:rPr lang="zh-CN" altLang="en-US" dirty="0"/>
              <a:t>实验目标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48382" y="2084669"/>
            <a:ext cx="95135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了解什么是有限自动机</a:t>
            </a: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绘制检测“</a:t>
            </a:r>
            <a:r>
              <a:rPr lang="en-US" altLang="zh-CN" sz="2400" dirty="0">
                <a:latin typeface="+mn-ea"/>
              </a:rPr>
              <a:t>1011</a:t>
            </a:r>
            <a:r>
              <a:rPr lang="zh-CN" altLang="en-US" sz="2400" dirty="0">
                <a:latin typeface="+mn-ea"/>
              </a:rPr>
              <a:t>”的状态机转移图（可以手绘或者采用绘图软件）</a:t>
            </a: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>
                <a:latin typeface="+mn-ea"/>
              </a:rPr>
              <a:t>Verilog</a:t>
            </a:r>
            <a:r>
              <a:rPr lang="zh-CN" altLang="en-US" sz="2400" dirty="0">
                <a:latin typeface="+mn-ea"/>
              </a:rPr>
              <a:t>代码实现“</a:t>
            </a:r>
            <a:r>
              <a:rPr lang="en-US" altLang="zh-CN" sz="2400" dirty="0">
                <a:latin typeface="+mn-ea"/>
              </a:rPr>
              <a:t>1011</a:t>
            </a:r>
            <a:r>
              <a:rPr lang="zh-CN" altLang="en-US" sz="2400" dirty="0">
                <a:latin typeface="+mn-ea"/>
              </a:rPr>
              <a:t>”序列的检测代码和仿真代码</a:t>
            </a: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检测“</a:t>
            </a:r>
            <a:r>
              <a:rPr lang="en-US" altLang="zh-CN" sz="2400" dirty="0">
                <a:latin typeface="+mn-ea"/>
              </a:rPr>
              <a:t>1011</a:t>
            </a:r>
            <a:r>
              <a:rPr lang="zh-CN" altLang="en-US" sz="2400" dirty="0">
                <a:latin typeface="+mn-ea"/>
              </a:rPr>
              <a:t>”序列时需要</a:t>
            </a:r>
            <a:r>
              <a:rPr lang="zh-CN" altLang="en-US" sz="2400" dirty="0"/>
              <a:t>考虑序列叠加情况， 比如“</a:t>
            </a:r>
            <a:r>
              <a:rPr lang="en-US" altLang="zh-CN" sz="2400" dirty="0">
                <a:latin typeface="+mn-ea"/>
              </a:rPr>
              <a:t>1011011</a:t>
            </a:r>
            <a:r>
              <a:rPr lang="en-US" altLang="zh-CN" sz="2400" dirty="0"/>
              <a:t>”</a:t>
            </a:r>
            <a:r>
              <a:rPr lang="zh-CN" altLang="en-US" sz="2400" dirty="0"/>
              <a:t>，则有两个“</a:t>
            </a:r>
            <a:r>
              <a:rPr lang="en-US" altLang="zh-CN" sz="2400" dirty="0">
                <a:latin typeface="+mn-ea"/>
              </a:rPr>
              <a:t>1011</a:t>
            </a:r>
            <a:r>
              <a:rPr lang="en-US" altLang="zh-CN" sz="2400" dirty="0"/>
              <a:t>”</a:t>
            </a:r>
            <a:r>
              <a:rPr lang="zh-CN" altLang="en-US" sz="2400" dirty="0"/>
              <a:t>，这需要输出两 个有效信号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9709" y="1434764"/>
            <a:ext cx="6322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在提供的</a:t>
            </a:r>
            <a:r>
              <a:rPr lang="en-US" altLang="zh-CN" sz="2400" dirty="0"/>
              <a:t>Verilog</a:t>
            </a:r>
            <a:r>
              <a:rPr lang="zh-CN" altLang="en-US" sz="2400" dirty="0"/>
              <a:t>项目模板下，完成以下目标：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2026/3/20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2. </a:t>
            </a:r>
            <a:r>
              <a:rPr lang="zh-CN" altLang="en-US" dirty="0"/>
              <a:t>有限自动机基础知识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1406019"/>
            <a:ext cx="11216641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1. </a:t>
            </a:r>
            <a:r>
              <a:rPr lang="zh-CN" altLang="en-US" sz="2400" dirty="0">
                <a:latin typeface="+mj-ea"/>
                <a:ea typeface="+mj-ea"/>
              </a:rPr>
              <a:t>什么是自动机？</a:t>
            </a:r>
          </a:p>
          <a:p>
            <a:pPr indent="457200"/>
            <a:endParaRPr lang="zh-CN" altLang="en-US" sz="2000" dirty="0">
              <a:sym typeface="+mn-ea"/>
            </a:endParaRPr>
          </a:p>
          <a:p>
            <a:pPr indent="457200"/>
            <a:r>
              <a:rPr lang="zh-CN" altLang="en-US" sz="2000" dirty="0">
                <a:sym typeface="+mn-ea"/>
              </a:rPr>
              <a:t>一个能够根据当前的状态和外部输入的信号，按照预设规则决定下一步动作的执行</a:t>
            </a:r>
            <a:r>
              <a:rPr lang="en-US" altLang="zh-CN" sz="2000" dirty="0">
                <a:sym typeface="+mn-ea"/>
              </a:rPr>
              <a:t>/</a:t>
            </a:r>
            <a:r>
              <a:rPr lang="zh-CN" altLang="en-US" sz="2000" dirty="0">
                <a:sym typeface="+mn-ea"/>
              </a:rPr>
              <a:t>控制单元</a:t>
            </a:r>
            <a:endParaRPr lang="zh-CN" altLang="en-US" sz="2000" dirty="0"/>
          </a:p>
          <a:p>
            <a:pPr indent="457200"/>
            <a:r>
              <a:rPr lang="zh-CN" altLang="en-US" sz="2000" dirty="0"/>
              <a:t>类比生活：比如接受硬币输入的</a:t>
            </a:r>
            <a:r>
              <a:rPr lang="zh-CN" altLang="en-US" sz="2000" dirty="0">
                <a:sym typeface="+mn-ea"/>
              </a:rPr>
              <a:t>自动售货机，它内部记着你</a:t>
            </a:r>
            <a:r>
              <a:rPr lang="en-US" altLang="zh-CN" sz="2000" dirty="0">
                <a:sym typeface="+mn-ea"/>
              </a:rPr>
              <a:t>‘</a:t>
            </a:r>
            <a:r>
              <a:rPr lang="zh-CN" altLang="en-US" sz="2000" dirty="0">
                <a:sym typeface="+mn-ea"/>
              </a:rPr>
              <a:t>已经投了多少钱</a:t>
            </a:r>
            <a:r>
              <a:rPr lang="en-US" altLang="zh-CN" sz="2000" dirty="0">
                <a:sym typeface="+mn-ea"/>
              </a:rPr>
              <a:t>’</a:t>
            </a:r>
            <a:r>
              <a:rPr lang="zh-CN" altLang="en-US" sz="2000" dirty="0">
                <a:sym typeface="+mn-ea"/>
              </a:rPr>
              <a:t>（这就是状态），当你继续投币（这是输入信号），它就会判断是继续等待还是吐出饮料（跳转到新状态）</a:t>
            </a:r>
            <a:endParaRPr lang="zh-CN" altLang="en-US" sz="20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38200" y="3940175"/>
          <a:ext cx="11203940" cy="2226310"/>
        </p:xfrm>
        <a:graphic>
          <a:graphicData uri="http://schemas.openxmlformats.org/drawingml/2006/table">
            <a:tbl>
              <a:tblPr/>
              <a:tblGrid>
                <a:gridCol w="280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要素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解释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自动售货机例子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1011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序列检测例子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状态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State)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系统当前所处的模式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ym typeface="+mn-ea"/>
                        </a:rPr>
                        <a:t>已经投了多少钱</a:t>
                      </a:r>
                      <a:endParaRPr lang="zh-CN" altLang="en-US">
                        <a:effectLst/>
                      </a:endParaRP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已检测到</a:t>
                      </a:r>
                      <a:r>
                        <a:rPr lang="en-US" altLang="zh-CN">
                          <a:effectLst/>
                        </a:rPr>
                        <a:t>"1"/"10"/"101"</a:t>
                      </a:r>
                      <a:r>
                        <a:rPr lang="zh-CN" altLang="en-US">
                          <a:effectLst/>
                        </a:rPr>
                        <a:t>等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0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转移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Transition)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状态变化的规则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ym typeface="+mn-ea"/>
                        </a:rPr>
                        <a:t>继续等待还是吐出饮料</a:t>
                      </a:r>
                      <a:endParaRPr lang="zh-CN" altLang="en-US">
                        <a:effectLst/>
                      </a:endParaRP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当前状态</a:t>
                      </a:r>
                      <a:r>
                        <a:rPr lang="en-US" altLang="zh-CN" dirty="0">
                          <a:effectLst/>
                        </a:rPr>
                        <a:t>+</a:t>
                      </a:r>
                      <a:r>
                        <a:rPr lang="zh-CN" altLang="en-US" dirty="0">
                          <a:effectLst/>
                        </a:rPr>
                        <a:t>新输入→新状态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输入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Input)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外部信号（如按键、时钟）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ym typeface="+mn-ea"/>
                        </a:rPr>
                        <a:t>继续投币</a:t>
                      </a:r>
                      <a:endParaRPr lang="zh-CN" altLang="en-US">
                        <a:effectLst/>
                      </a:endParaRP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串行输</a:t>
                      </a:r>
                    </a:p>
                  </a:txBody>
                  <a:tcPr marL="61913" marR="61913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38200" y="328786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2. </a:t>
            </a:r>
            <a:r>
              <a:rPr lang="zh-CN" altLang="en-US" sz="2400" dirty="0">
                <a:latin typeface="+mj-ea"/>
                <a:ea typeface="+mj-ea"/>
              </a:rPr>
              <a:t>核心三要素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2026/3/20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2. </a:t>
            </a:r>
            <a:r>
              <a:rPr lang="zh-CN" altLang="en-US" dirty="0"/>
              <a:t>有限自动机基础知识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1406019"/>
            <a:ext cx="11216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3. </a:t>
            </a:r>
            <a:r>
              <a:rPr lang="zh-CN" altLang="en-US" sz="2400" dirty="0">
                <a:latin typeface="+mj-ea"/>
                <a:ea typeface="+mj-ea"/>
              </a:rPr>
              <a:t>不完全状态转移图（</a:t>
            </a:r>
            <a:r>
              <a:rPr lang="en-US" altLang="zh-CN" sz="2400" dirty="0">
                <a:latin typeface="+mj-ea"/>
                <a:ea typeface="+mj-ea"/>
              </a:rPr>
              <a:t>1011</a:t>
            </a:r>
            <a:r>
              <a:rPr lang="zh-CN" altLang="en-US" sz="2400" dirty="0">
                <a:latin typeface="+mj-ea"/>
                <a:ea typeface="+mj-ea"/>
              </a:rPr>
              <a:t>检测）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255611" y="2902356"/>
            <a:ext cx="7680778" cy="1661264"/>
            <a:chOff x="1284503" y="2555906"/>
            <a:chExt cx="7680778" cy="1661264"/>
          </a:xfrm>
        </p:grpSpPr>
        <p:sp>
          <p:nvSpPr>
            <p:cNvPr id="9" name="椭圆 8"/>
            <p:cNvSpPr/>
            <p:nvPr/>
          </p:nvSpPr>
          <p:spPr>
            <a:xfrm>
              <a:off x="1284503" y="2555906"/>
              <a:ext cx="1105192" cy="11051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Start</a:t>
              </a:r>
              <a:endParaRPr lang="zh-CN" altLang="en-US" dirty="0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860089" y="2555906"/>
              <a:ext cx="1105192" cy="1105192"/>
              <a:chOff x="2964089" y="2895935"/>
              <a:chExt cx="562074" cy="562074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2993098" y="2924944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S4</a:t>
                </a:r>
                <a:endParaRPr lang="zh-CN" altLang="en-US" dirty="0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964089" y="2895935"/>
                <a:ext cx="562074" cy="562074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椭圆 13"/>
            <p:cNvSpPr/>
            <p:nvPr/>
          </p:nvSpPr>
          <p:spPr>
            <a:xfrm>
              <a:off x="2934302" y="2555906"/>
              <a:ext cx="1105192" cy="11051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S1</a:t>
              </a:r>
              <a:endParaRPr lang="zh-CN" altLang="en-US" dirty="0"/>
            </a:p>
          </p:txBody>
        </p:sp>
        <p:sp>
          <p:nvSpPr>
            <p:cNvPr id="15" name="椭圆 14"/>
            <p:cNvSpPr/>
            <p:nvPr/>
          </p:nvSpPr>
          <p:spPr>
            <a:xfrm>
              <a:off x="4584101" y="2561327"/>
              <a:ext cx="1105192" cy="11051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S2</a:t>
              </a:r>
              <a:endParaRPr lang="zh-CN" altLang="en-US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6233900" y="2555906"/>
              <a:ext cx="1105192" cy="11051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S3</a:t>
              </a:r>
              <a:endParaRPr lang="zh-CN" altLang="en-US" dirty="0"/>
            </a:p>
          </p:txBody>
        </p:sp>
        <p:sp>
          <p:nvSpPr>
            <p:cNvPr id="17" name="箭头: 右 16"/>
            <p:cNvSpPr/>
            <p:nvPr/>
          </p:nvSpPr>
          <p:spPr>
            <a:xfrm>
              <a:off x="2493302" y="3038534"/>
              <a:ext cx="417390" cy="11927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箭头: 右 17"/>
            <p:cNvSpPr/>
            <p:nvPr/>
          </p:nvSpPr>
          <p:spPr>
            <a:xfrm>
              <a:off x="4111770" y="3038534"/>
              <a:ext cx="417390" cy="11927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右 18"/>
            <p:cNvSpPr/>
            <p:nvPr/>
          </p:nvSpPr>
          <p:spPr>
            <a:xfrm>
              <a:off x="5792900" y="3038534"/>
              <a:ext cx="417390" cy="11927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右 19"/>
            <p:cNvSpPr/>
            <p:nvPr/>
          </p:nvSpPr>
          <p:spPr>
            <a:xfrm>
              <a:off x="7396131" y="3002619"/>
              <a:ext cx="417390" cy="11927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336857" y="384502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28948" y="38450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</a:t>
              </a:r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521038" y="3847838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101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093815" y="3845024"/>
              <a:ext cx="637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1011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537151" y="272031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173562" y="269576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823361" y="268981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446954" y="268981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2026/3/20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3. </a:t>
            </a:r>
            <a:r>
              <a:rPr lang="zh-CN" altLang="en-US" dirty="0"/>
              <a:t>实验提交要求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0545" y="1611630"/>
            <a:ext cx="11641455" cy="3777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400" dirty="0"/>
              <a:t>根据</a:t>
            </a:r>
            <a:r>
              <a:rPr lang="en-US" altLang="zh-CN" sz="2400" dirty="0"/>
              <a:t>PPT</a:t>
            </a:r>
            <a:r>
              <a:rPr lang="zh-CN" altLang="en-US" sz="2400" dirty="0"/>
              <a:t>中提供的不完全状态转移图绘制出完整状态转移图（手绘或软件绘制都可）</a:t>
            </a:r>
            <a:endParaRPr lang="en-US" altLang="zh-CN" sz="24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400" dirty="0"/>
              <a:t>完成“</a:t>
            </a:r>
            <a:r>
              <a:rPr lang="en-US" altLang="zh-CN" sz="2400" dirty="0"/>
              <a:t>1011</a:t>
            </a:r>
            <a:r>
              <a:rPr lang="zh-CN" altLang="en-US" sz="2400" dirty="0"/>
              <a:t>”检测模块的编写</a:t>
            </a:r>
            <a:endParaRPr lang="en-US" altLang="zh-CN" sz="24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400" dirty="0"/>
              <a:t>运行仿真，提交仿真结果图，并加以说明</a:t>
            </a:r>
            <a:endParaRPr lang="en-US" altLang="zh-CN" sz="24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D-DINExp"/>
              </a:rPr>
              <a:t>提交整个</a:t>
            </a:r>
            <a:r>
              <a:rPr lang="en-US" altLang="zh-CN" sz="2400" dirty="0">
                <a:latin typeface="D-DINExp"/>
              </a:rPr>
              <a:t>Automaton</a:t>
            </a:r>
            <a:r>
              <a:rPr lang="zh-CN" altLang="en-US" sz="2400" b="0" i="0" dirty="0">
                <a:effectLst/>
                <a:latin typeface="D-DINExp"/>
              </a:rPr>
              <a:t>项目以及实验报告的</a:t>
            </a:r>
            <a:r>
              <a:rPr lang="en-US" altLang="zh-CN" sz="2400" b="0" i="0" dirty="0">
                <a:effectLst/>
                <a:latin typeface="D-DINExp"/>
              </a:rPr>
              <a:t>zip</a:t>
            </a:r>
            <a:r>
              <a:rPr lang="zh-CN" altLang="en-US" sz="2400" b="0" i="0" dirty="0">
                <a:effectLst/>
                <a:latin typeface="D-DINExp"/>
              </a:rPr>
              <a:t>压缩包</a:t>
            </a:r>
            <a:r>
              <a:rPr lang="zh-CN" altLang="en-US" sz="2400" dirty="0">
                <a:latin typeface="D-DINExp"/>
              </a:rPr>
              <a:t>，同时</a:t>
            </a: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zip</a:t>
            </a:r>
            <a:r>
              <a:rPr lang="zh-CN" altLang="en-US" sz="2400" dirty="0">
                <a:latin typeface="+mn-ea"/>
              </a:rPr>
              <a:t>压缩包重命名为</a:t>
            </a:r>
            <a:r>
              <a:rPr lang="en-US" altLang="zh-CN" sz="2400" b="1" dirty="0">
                <a:latin typeface="+mj-ea"/>
                <a:ea typeface="+mj-ea"/>
              </a:rPr>
              <a:t>{</a:t>
            </a:r>
            <a:r>
              <a:rPr lang="zh-CN" altLang="en-US" sz="2400" b="1" dirty="0">
                <a:latin typeface="+mj-ea"/>
                <a:ea typeface="+mj-ea"/>
              </a:rPr>
              <a:t>学号</a:t>
            </a:r>
            <a:r>
              <a:rPr lang="en-US" altLang="zh-CN" sz="2400" b="1" dirty="0">
                <a:latin typeface="+mj-ea"/>
                <a:ea typeface="+mj-ea"/>
              </a:rPr>
              <a:t>}_{</a:t>
            </a:r>
            <a:r>
              <a:rPr lang="zh-CN" altLang="en-US" sz="2400" b="1" dirty="0">
                <a:latin typeface="+mj-ea"/>
                <a:ea typeface="+mj-ea"/>
              </a:rPr>
              <a:t>姓名</a:t>
            </a:r>
            <a:r>
              <a:rPr lang="en-US" altLang="zh-CN" sz="2400" b="1" dirty="0">
                <a:latin typeface="+mj-ea"/>
                <a:ea typeface="+mj-ea"/>
              </a:rPr>
              <a:t>}_lab1-2.zip</a:t>
            </a:r>
            <a:r>
              <a:rPr lang="zh-CN" altLang="en-US" sz="2400" dirty="0">
                <a:latin typeface="+mn-ea"/>
              </a:rPr>
              <a:t>，比如</a:t>
            </a:r>
            <a:r>
              <a:rPr lang="en-US" altLang="zh-CN" sz="2400" b="1" dirty="0">
                <a:latin typeface="+mj-ea"/>
                <a:ea typeface="+mj-ea"/>
              </a:rPr>
              <a:t>12345678910_</a:t>
            </a:r>
            <a:r>
              <a:rPr lang="zh-CN" altLang="en-US" sz="2400" b="1" dirty="0">
                <a:latin typeface="+mj-ea"/>
                <a:ea typeface="+mj-ea"/>
              </a:rPr>
              <a:t>张三</a:t>
            </a:r>
            <a:r>
              <a:rPr lang="en-US" altLang="zh-CN" sz="2400" b="1" dirty="0">
                <a:latin typeface="+mj-ea"/>
                <a:ea typeface="+mj-ea"/>
              </a:rPr>
              <a:t>_lab1-2.zip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2026/3/20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2095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+mj-ea"/>
                <a:ea typeface="+mj-ea"/>
              </a:rPr>
              <a:t>Appendix. </a:t>
            </a:r>
            <a:endParaRPr lang="zh-CN" altLang="en-US" sz="3200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9434"/>
            <a:ext cx="12192000" cy="1734914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" name="文本框 2"/>
          <p:cNvSpPr txBox="1"/>
          <p:nvPr/>
        </p:nvSpPr>
        <p:spPr>
          <a:xfrm>
            <a:off x="1058487" y="1363288"/>
            <a:ext cx="3519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期望仿真结果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8487" y="4205927"/>
            <a:ext cx="482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Verilog</a:t>
            </a:r>
            <a:r>
              <a:rPr lang="zh-CN" altLang="en-US" sz="2400" dirty="0">
                <a:latin typeface="+mj-ea"/>
                <a:ea typeface="+mj-ea"/>
              </a:rPr>
              <a:t>语法教程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52040" y="4985385"/>
            <a:ext cx="26162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hlinkClick r:id="rId4" action="ppaction://hlinkfile"/>
              </a:rPr>
              <a:t>Verilog </a:t>
            </a:r>
            <a:r>
              <a:rPr lang="zh-CN" altLang="en-US" sz="1600">
                <a:hlinkClick r:id="rId4" action="ppaction://hlinkfile"/>
              </a:rPr>
              <a:t>基础语法</a:t>
            </a:r>
            <a:endParaRPr lang="zh-CN" alt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宽屏</PresentationFormat>
  <Paragraphs>68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D-DINExp</vt:lpstr>
      <vt:lpstr>等线</vt:lpstr>
      <vt:lpstr>幼圆</vt:lpstr>
      <vt:lpstr>Arial</vt:lpstr>
      <vt:lpstr>Times New Roman</vt:lpstr>
      <vt:lpstr>Office 主题​​</vt:lpstr>
      <vt:lpstr>PowerPoint 演示文稿</vt:lpstr>
      <vt:lpstr>Section 1. 实验目标</vt:lpstr>
      <vt:lpstr>Section 2. 有限自动机基础知识</vt:lpstr>
      <vt:lpstr>Section 2. 有限自动机基础知识</vt:lpstr>
      <vt:lpstr>Section 3. 实验提交要求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敏坤 薛</cp:lastModifiedBy>
  <cp:revision>40</cp:revision>
  <dcterms:created xsi:type="dcterms:W3CDTF">2025-02-16T07:59:00Z</dcterms:created>
  <dcterms:modified xsi:type="dcterms:W3CDTF">2026-03-20T07:18:46Z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FA2429995BB5476BA438182F3327141D_12</vt:lpwstr>
  </property>
  <property fmtid="{D5CDD505-2E9C-101B-9397-08002B2CF9AE}" pid="3" name="KSOProductBuildVer">
    <vt:lpwstr>2052-12.1.0.25225</vt:lpwstr>
  </property>
</Properties>
</file>